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5"/>
  </p:notesMasterIdLst>
  <p:sldIdLst>
    <p:sldId id="365" r:id="rId2"/>
    <p:sldId id="389" r:id="rId3"/>
    <p:sldId id="390" r:id="rId4"/>
    <p:sldId id="391" r:id="rId5"/>
    <p:sldId id="393" r:id="rId6"/>
    <p:sldId id="394" r:id="rId7"/>
    <p:sldId id="395" r:id="rId8"/>
    <p:sldId id="397" r:id="rId9"/>
    <p:sldId id="396" r:id="rId10"/>
    <p:sldId id="399" r:id="rId11"/>
    <p:sldId id="400" r:id="rId12"/>
    <p:sldId id="401" r:id="rId13"/>
    <p:sldId id="402" r:id="rId14"/>
    <p:sldId id="403" r:id="rId15"/>
    <p:sldId id="404" r:id="rId16"/>
    <p:sldId id="405" r:id="rId17"/>
    <p:sldId id="407" r:id="rId18"/>
    <p:sldId id="408" r:id="rId19"/>
    <p:sldId id="406" r:id="rId20"/>
    <p:sldId id="409" r:id="rId21"/>
    <p:sldId id="410" r:id="rId22"/>
    <p:sldId id="411" r:id="rId23"/>
    <p:sldId id="412" r:id="rId24"/>
    <p:sldId id="414" r:id="rId25"/>
    <p:sldId id="415" r:id="rId26"/>
    <p:sldId id="413" r:id="rId27"/>
    <p:sldId id="416" r:id="rId28"/>
    <p:sldId id="417" r:id="rId29"/>
    <p:sldId id="418" r:id="rId30"/>
    <p:sldId id="419" r:id="rId31"/>
    <p:sldId id="421" r:id="rId32"/>
    <p:sldId id="422" r:id="rId33"/>
    <p:sldId id="420" r:id="rId34"/>
    <p:sldId id="423" r:id="rId35"/>
    <p:sldId id="424" r:id="rId36"/>
    <p:sldId id="425" r:id="rId37"/>
    <p:sldId id="426" r:id="rId38"/>
    <p:sldId id="427" r:id="rId39"/>
    <p:sldId id="428" r:id="rId40"/>
    <p:sldId id="429" r:id="rId41"/>
    <p:sldId id="430" r:id="rId42"/>
    <p:sldId id="431" r:id="rId43"/>
    <p:sldId id="432" r:id="rId44"/>
    <p:sldId id="433" r:id="rId45"/>
    <p:sldId id="434" r:id="rId46"/>
    <p:sldId id="435" r:id="rId47"/>
    <p:sldId id="436" r:id="rId48"/>
    <p:sldId id="438" r:id="rId49"/>
    <p:sldId id="439" r:id="rId50"/>
    <p:sldId id="440" r:id="rId51"/>
    <p:sldId id="441" r:id="rId52"/>
    <p:sldId id="442" r:id="rId53"/>
    <p:sldId id="443" r:id="rId54"/>
    <p:sldId id="444" r:id="rId55"/>
    <p:sldId id="445" r:id="rId56"/>
    <p:sldId id="447" r:id="rId57"/>
    <p:sldId id="448" r:id="rId58"/>
    <p:sldId id="446" r:id="rId59"/>
    <p:sldId id="451" r:id="rId60"/>
    <p:sldId id="449" r:id="rId61"/>
    <p:sldId id="453" r:id="rId62"/>
    <p:sldId id="454" r:id="rId63"/>
    <p:sldId id="452" r:id="rId64"/>
    <p:sldId id="455" r:id="rId65"/>
    <p:sldId id="459" r:id="rId66"/>
    <p:sldId id="457" r:id="rId67"/>
    <p:sldId id="458" r:id="rId68"/>
    <p:sldId id="456" r:id="rId69"/>
    <p:sldId id="461" r:id="rId70"/>
    <p:sldId id="460" r:id="rId71"/>
    <p:sldId id="462" r:id="rId72"/>
    <p:sldId id="463" r:id="rId73"/>
    <p:sldId id="464" r:id="rId7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46" autoAdjust="0"/>
    <p:restoredTop sz="95721"/>
  </p:normalViewPr>
  <p:slideViewPr>
    <p:cSldViewPr snapToGrid="0" snapToObjects="1">
      <p:cViewPr varScale="1">
        <p:scale>
          <a:sx n="71" d="100"/>
          <a:sy n="71" d="100"/>
        </p:scale>
        <p:origin x="66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A347D5-3278-46C2-BF4B-142DF7C876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E23BDA8-CF1E-4EEE-B7AA-5EDD4DE3241B}">
      <dgm:prSet custT="1"/>
      <dgm:spPr/>
      <dgm:t>
        <a:bodyPr/>
        <a:lstStyle/>
        <a:p>
          <a:r>
            <a:rPr lang="en-US" sz="2400" b="1"/>
            <a:t>Important Concepts</a:t>
          </a:r>
          <a:endParaRPr lang="en-US" sz="2400"/>
        </a:p>
      </dgm:t>
    </dgm:pt>
    <dgm:pt modelId="{40C9845E-6293-48B3-84AD-C9D697843C3A}" type="parTrans" cxnId="{F7C73AC1-F5ED-4CA8-AF9B-AC3D22B38D3F}">
      <dgm:prSet/>
      <dgm:spPr/>
      <dgm:t>
        <a:bodyPr/>
        <a:lstStyle/>
        <a:p>
          <a:endParaRPr lang="en-US" sz="2400"/>
        </a:p>
      </dgm:t>
    </dgm:pt>
    <dgm:pt modelId="{175FAEF0-AE81-432B-8B3F-633DE310F2DC}" type="sibTrans" cxnId="{F7C73AC1-F5ED-4CA8-AF9B-AC3D22B38D3F}">
      <dgm:prSet/>
      <dgm:spPr/>
      <dgm:t>
        <a:bodyPr/>
        <a:lstStyle/>
        <a:p>
          <a:endParaRPr lang="en-US" sz="2400"/>
        </a:p>
      </dgm:t>
    </dgm:pt>
    <dgm:pt modelId="{3C839ECC-10D5-4AF4-9A51-E2D38F78861E}">
      <dgm:prSet custT="1"/>
      <dgm:spPr/>
      <dgm:t>
        <a:bodyPr/>
        <a:lstStyle/>
        <a:p>
          <a:r>
            <a:rPr lang="en-US" sz="1800" dirty="0"/>
            <a:t>List object: The actual list stored in memory.</a:t>
          </a:r>
        </a:p>
      </dgm:t>
    </dgm:pt>
    <dgm:pt modelId="{299E7D24-FB68-4484-A197-DAF64FD05BB1}" type="parTrans" cxnId="{A67F38AD-96F0-4ED2-B4B1-B69474307950}">
      <dgm:prSet/>
      <dgm:spPr/>
      <dgm:t>
        <a:bodyPr/>
        <a:lstStyle/>
        <a:p>
          <a:endParaRPr lang="en-US" sz="2400"/>
        </a:p>
      </dgm:t>
    </dgm:pt>
    <dgm:pt modelId="{6DCC0384-2FEB-4D3B-BD52-D5D4E70DF550}" type="sibTrans" cxnId="{A67F38AD-96F0-4ED2-B4B1-B69474307950}">
      <dgm:prSet/>
      <dgm:spPr/>
      <dgm:t>
        <a:bodyPr/>
        <a:lstStyle/>
        <a:p>
          <a:endParaRPr lang="en-US" sz="2400"/>
        </a:p>
      </dgm:t>
    </dgm:pt>
    <dgm:pt modelId="{C31805A4-5868-42C5-BA44-09D4604A1497}">
      <dgm:prSet custT="1"/>
      <dgm:spPr/>
      <dgm:t>
        <a:bodyPr/>
        <a:lstStyle/>
        <a:p>
          <a:r>
            <a:rPr lang="en-US" sz="1800" dirty="0"/>
            <a:t>Reference: A connection to an object.</a:t>
          </a:r>
        </a:p>
      </dgm:t>
    </dgm:pt>
    <dgm:pt modelId="{14208E28-960A-45E0-B2D5-F7F7684E33D6}" type="parTrans" cxnId="{404E29CA-0C38-40E6-BCE9-5E0A984BA045}">
      <dgm:prSet/>
      <dgm:spPr/>
      <dgm:t>
        <a:bodyPr/>
        <a:lstStyle/>
        <a:p>
          <a:endParaRPr lang="en-US" sz="2400"/>
        </a:p>
      </dgm:t>
    </dgm:pt>
    <dgm:pt modelId="{3966C2DE-5850-4785-869F-ACC18764E68D}" type="sibTrans" cxnId="{404E29CA-0C38-40E6-BCE9-5E0A984BA045}">
      <dgm:prSet/>
      <dgm:spPr/>
      <dgm:t>
        <a:bodyPr/>
        <a:lstStyle/>
        <a:p>
          <a:endParaRPr lang="en-US" sz="2400"/>
        </a:p>
      </dgm:t>
    </dgm:pt>
    <dgm:pt modelId="{EF4637A3-7F57-4A11-AF31-F80F5A1ADC89}">
      <dgm:prSet custT="1"/>
      <dgm:spPr/>
      <dgm:t>
        <a:bodyPr/>
        <a:lstStyle/>
        <a:p>
          <a:r>
            <a:rPr lang="en-US" sz="1800"/>
            <a:t>Variable: A name that refers to an object.</a:t>
          </a:r>
        </a:p>
      </dgm:t>
    </dgm:pt>
    <dgm:pt modelId="{2526917F-1D60-40E5-95F5-4142497EE484}" type="parTrans" cxnId="{E68C3DED-AF0E-4279-9707-A602B806B9EE}">
      <dgm:prSet/>
      <dgm:spPr/>
      <dgm:t>
        <a:bodyPr/>
        <a:lstStyle/>
        <a:p>
          <a:endParaRPr lang="en-US" sz="2400"/>
        </a:p>
      </dgm:t>
    </dgm:pt>
    <dgm:pt modelId="{7C050FB8-2A2E-42F2-A379-F0A46835169B}" type="sibTrans" cxnId="{E68C3DED-AF0E-4279-9707-A602B806B9EE}">
      <dgm:prSet/>
      <dgm:spPr/>
      <dgm:t>
        <a:bodyPr/>
        <a:lstStyle/>
        <a:p>
          <a:endParaRPr lang="en-US" sz="2400"/>
        </a:p>
      </dgm:t>
    </dgm:pt>
    <dgm:pt modelId="{39BEDAD5-447B-460B-B038-DA7C6210DB77}">
      <dgm:prSet custT="1"/>
      <dgm:spPr/>
      <dgm:t>
        <a:bodyPr/>
        <a:lstStyle/>
        <a:p>
          <a:r>
            <a:rPr lang="en-US" sz="2400" b="1" dirty="0"/>
            <a:t>What Happens When We Modify the List?</a:t>
          </a:r>
          <a:endParaRPr lang="en-US" sz="2400" dirty="0"/>
        </a:p>
      </dgm:t>
    </dgm:pt>
    <dgm:pt modelId="{0C346B49-0450-4EC4-B871-FCF0CB1C69C9}" type="parTrans" cxnId="{9253AD92-F642-4F7D-A549-0FB28A3A8908}">
      <dgm:prSet/>
      <dgm:spPr/>
      <dgm:t>
        <a:bodyPr/>
        <a:lstStyle/>
        <a:p>
          <a:endParaRPr lang="en-US" sz="2400"/>
        </a:p>
      </dgm:t>
    </dgm:pt>
    <dgm:pt modelId="{E181C232-D040-49DD-BECD-7A836202760D}" type="sibTrans" cxnId="{9253AD92-F642-4F7D-A549-0FB28A3A8908}">
      <dgm:prSet/>
      <dgm:spPr/>
      <dgm:t>
        <a:bodyPr/>
        <a:lstStyle/>
        <a:p>
          <a:endParaRPr lang="en-US" sz="2400"/>
        </a:p>
      </dgm:t>
    </dgm:pt>
    <dgm:pt modelId="{D2E000AA-8CD8-4331-B66E-420231ADA46B}" type="pres">
      <dgm:prSet presAssocID="{4EA347D5-3278-46C2-BF4B-142DF7C876E2}" presName="linear" presStyleCnt="0">
        <dgm:presLayoutVars>
          <dgm:animLvl val="lvl"/>
          <dgm:resizeHandles val="exact"/>
        </dgm:presLayoutVars>
      </dgm:prSet>
      <dgm:spPr/>
    </dgm:pt>
    <dgm:pt modelId="{CDD93CD1-33A8-4E31-AC9D-35B0ACDC712F}" type="pres">
      <dgm:prSet presAssocID="{4E23BDA8-CF1E-4EEE-B7AA-5EDD4DE3241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E6930AF-678F-43CF-B135-1487211A6082}" type="pres">
      <dgm:prSet presAssocID="{4E23BDA8-CF1E-4EEE-B7AA-5EDD4DE3241B}" presName="childText" presStyleLbl="revTx" presStyleIdx="0" presStyleCnt="1">
        <dgm:presLayoutVars>
          <dgm:bulletEnabled val="1"/>
        </dgm:presLayoutVars>
      </dgm:prSet>
      <dgm:spPr/>
    </dgm:pt>
    <dgm:pt modelId="{FCA8D3C5-BB10-454C-AB00-EDDAD746C0AF}" type="pres">
      <dgm:prSet presAssocID="{39BEDAD5-447B-460B-B038-DA7C6210DB7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0839426-D644-4042-80B7-9E0889A715E5}" type="presOf" srcId="{39BEDAD5-447B-460B-B038-DA7C6210DB77}" destId="{FCA8D3C5-BB10-454C-AB00-EDDAD746C0AF}" srcOrd="0" destOrd="0" presId="urn:microsoft.com/office/officeart/2005/8/layout/vList2"/>
    <dgm:cxn modelId="{B6643953-3530-41DB-A8D0-4596BEA075D2}" type="presOf" srcId="{4E23BDA8-CF1E-4EEE-B7AA-5EDD4DE3241B}" destId="{CDD93CD1-33A8-4E31-AC9D-35B0ACDC712F}" srcOrd="0" destOrd="0" presId="urn:microsoft.com/office/officeart/2005/8/layout/vList2"/>
    <dgm:cxn modelId="{BFB2A377-9F2B-41B0-BCAA-956810E089B3}" type="presOf" srcId="{4EA347D5-3278-46C2-BF4B-142DF7C876E2}" destId="{D2E000AA-8CD8-4331-B66E-420231ADA46B}" srcOrd="0" destOrd="0" presId="urn:microsoft.com/office/officeart/2005/8/layout/vList2"/>
    <dgm:cxn modelId="{9253AD92-F642-4F7D-A549-0FB28A3A8908}" srcId="{4EA347D5-3278-46C2-BF4B-142DF7C876E2}" destId="{39BEDAD5-447B-460B-B038-DA7C6210DB77}" srcOrd="1" destOrd="0" parTransId="{0C346B49-0450-4EC4-B871-FCF0CB1C69C9}" sibTransId="{E181C232-D040-49DD-BECD-7A836202760D}"/>
    <dgm:cxn modelId="{F5B3EC93-8834-4A60-97AF-1196FD35CA30}" type="presOf" srcId="{C31805A4-5868-42C5-BA44-09D4604A1497}" destId="{3E6930AF-678F-43CF-B135-1487211A6082}" srcOrd="0" destOrd="1" presId="urn:microsoft.com/office/officeart/2005/8/layout/vList2"/>
    <dgm:cxn modelId="{A67F38AD-96F0-4ED2-B4B1-B69474307950}" srcId="{4E23BDA8-CF1E-4EEE-B7AA-5EDD4DE3241B}" destId="{3C839ECC-10D5-4AF4-9A51-E2D38F78861E}" srcOrd="0" destOrd="0" parTransId="{299E7D24-FB68-4484-A197-DAF64FD05BB1}" sibTransId="{6DCC0384-2FEB-4D3B-BD52-D5D4E70DF550}"/>
    <dgm:cxn modelId="{0ADAE1B9-882D-4588-97CA-3A6B122594B0}" type="presOf" srcId="{3C839ECC-10D5-4AF4-9A51-E2D38F78861E}" destId="{3E6930AF-678F-43CF-B135-1487211A6082}" srcOrd="0" destOrd="0" presId="urn:microsoft.com/office/officeart/2005/8/layout/vList2"/>
    <dgm:cxn modelId="{F7C73AC1-F5ED-4CA8-AF9B-AC3D22B38D3F}" srcId="{4EA347D5-3278-46C2-BF4B-142DF7C876E2}" destId="{4E23BDA8-CF1E-4EEE-B7AA-5EDD4DE3241B}" srcOrd="0" destOrd="0" parTransId="{40C9845E-6293-48B3-84AD-C9D697843C3A}" sibTransId="{175FAEF0-AE81-432B-8B3F-633DE310F2DC}"/>
    <dgm:cxn modelId="{A407A7C9-B3B3-4EF3-AE3B-F07215E18E74}" type="presOf" srcId="{EF4637A3-7F57-4A11-AF31-F80F5A1ADC89}" destId="{3E6930AF-678F-43CF-B135-1487211A6082}" srcOrd="0" destOrd="2" presId="urn:microsoft.com/office/officeart/2005/8/layout/vList2"/>
    <dgm:cxn modelId="{404E29CA-0C38-40E6-BCE9-5E0A984BA045}" srcId="{4E23BDA8-CF1E-4EEE-B7AA-5EDD4DE3241B}" destId="{C31805A4-5868-42C5-BA44-09D4604A1497}" srcOrd="1" destOrd="0" parTransId="{14208E28-960A-45E0-B2D5-F7F7684E33D6}" sibTransId="{3966C2DE-5850-4785-869F-ACC18764E68D}"/>
    <dgm:cxn modelId="{E68C3DED-AF0E-4279-9707-A602B806B9EE}" srcId="{4E23BDA8-CF1E-4EEE-B7AA-5EDD4DE3241B}" destId="{EF4637A3-7F57-4A11-AF31-F80F5A1ADC89}" srcOrd="2" destOrd="0" parTransId="{2526917F-1D60-40E5-95F5-4142497EE484}" sibTransId="{7C050FB8-2A2E-42F2-A379-F0A46835169B}"/>
    <dgm:cxn modelId="{C45282A9-79D0-4F03-95F0-A344A72BE83A}" type="presParOf" srcId="{D2E000AA-8CD8-4331-B66E-420231ADA46B}" destId="{CDD93CD1-33A8-4E31-AC9D-35B0ACDC712F}" srcOrd="0" destOrd="0" presId="urn:microsoft.com/office/officeart/2005/8/layout/vList2"/>
    <dgm:cxn modelId="{6AA853EA-8D62-4CFA-90B5-D373D096AC16}" type="presParOf" srcId="{D2E000AA-8CD8-4331-B66E-420231ADA46B}" destId="{3E6930AF-678F-43CF-B135-1487211A6082}" srcOrd="1" destOrd="0" presId="urn:microsoft.com/office/officeart/2005/8/layout/vList2"/>
    <dgm:cxn modelId="{E646E18F-920C-4541-A030-306AB637F02E}" type="presParOf" srcId="{D2E000AA-8CD8-4331-B66E-420231ADA46B}" destId="{FCA8D3C5-BB10-454C-AB00-EDDAD746C0A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D93CD1-33A8-4E31-AC9D-35B0ACDC712F}">
      <dsp:nvSpPr>
        <dsp:cNvPr id="0" name=""/>
        <dsp:cNvSpPr/>
      </dsp:nvSpPr>
      <dsp:spPr>
        <a:xfrm>
          <a:off x="0" y="4079"/>
          <a:ext cx="11389893" cy="599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Important Concepts</a:t>
          </a:r>
          <a:endParaRPr lang="en-US" sz="2400" kern="1200"/>
        </a:p>
      </dsp:txBody>
      <dsp:txXfrm>
        <a:off x="29243" y="33322"/>
        <a:ext cx="11331407" cy="540554"/>
      </dsp:txXfrm>
    </dsp:sp>
    <dsp:sp modelId="{3E6930AF-678F-43CF-B135-1487211A6082}">
      <dsp:nvSpPr>
        <dsp:cNvPr id="0" name=""/>
        <dsp:cNvSpPr/>
      </dsp:nvSpPr>
      <dsp:spPr>
        <a:xfrm>
          <a:off x="0" y="603119"/>
          <a:ext cx="11389893" cy="927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1629" tIns="22860" rIns="128016" bIns="2286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List object: The actual list stored in memory.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Reference: A connection to an object.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Variable: A name that refers to an object.</a:t>
          </a:r>
        </a:p>
      </dsp:txBody>
      <dsp:txXfrm>
        <a:off x="0" y="603119"/>
        <a:ext cx="11389893" cy="927360"/>
      </dsp:txXfrm>
    </dsp:sp>
    <dsp:sp modelId="{FCA8D3C5-BB10-454C-AB00-EDDAD746C0AF}">
      <dsp:nvSpPr>
        <dsp:cNvPr id="0" name=""/>
        <dsp:cNvSpPr/>
      </dsp:nvSpPr>
      <dsp:spPr>
        <a:xfrm>
          <a:off x="0" y="1530480"/>
          <a:ext cx="11389893" cy="599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What Happens When We Modify the List?</a:t>
          </a:r>
          <a:endParaRPr lang="en-US" sz="2400" kern="1200" dirty="0"/>
        </a:p>
      </dsp:txBody>
      <dsp:txXfrm>
        <a:off x="29243" y="1559723"/>
        <a:ext cx="11331407" cy="5405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31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3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63544" y="76832"/>
            <a:ext cx="6096000" cy="2159000"/>
          </a:xfrm>
          <a:custGeom>
            <a:avLst/>
            <a:gdLst/>
            <a:ahLst/>
            <a:cxnLst/>
            <a:rect l="l" t="t" r="r" b="b"/>
            <a:pathLst>
              <a:path w="12192000" h="4318000" extrusionOk="0">
                <a:moveTo>
                  <a:pt x="0" y="0"/>
                </a:moveTo>
                <a:lnTo>
                  <a:pt x="12192000" y="0"/>
                </a:lnTo>
                <a:lnTo>
                  <a:pt x="12192000" y="4318000"/>
                </a:lnTo>
                <a:lnTo>
                  <a:pt x="0" y="431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5657" t="-53298" r="-16011" b="-55820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CB8F31-C92F-059B-A0A1-179AF92EC3B2}"/>
              </a:ext>
            </a:extLst>
          </p:cNvPr>
          <p:cNvSpPr txBox="1">
            <a:spLocks/>
          </p:cNvSpPr>
          <p:nvPr/>
        </p:nvSpPr>
        <p:spPr>
          <a:xfrm>
            <a:off x="4155623" y="2235832"/>
            <a:ext cx="5334930" cy="3004145"/>
          </a:xfr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Lists, Mutation, and Aliasing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6EFC5-6FE5-A8D4-A21E-9B2FCF4ED3AF}"/>
              </a:ext>
            </a:extLst>
          </p:cNvPr>
          <p:cNvSpPr txBox="1">
            <a:spLocks/>
          </p:cNvSpPr>
          <p:nvPr/>
        </p:nvSpPr>
        <p:spPr>
          <a:xfrm>
            <a:off x="363544" y="5239977"/>
            <a:ext cx="7158690" cy="1528413"/>
          </a:xfr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Bunyod Samandarov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Doctor of Science (DSc),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Professor, Al-Khwarizmi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4F25A7-9A3A-E4DA-6547-D502222BA1D7}"/>
              </a:ext>
            </a:extLst>
          </p:cNvPr>
          <p:cNvSpPr txBox="1"/>
          <p:nvPr/>
        </p:nvSpPr>
        <p:spPr>
          <a:xfrm>
            <a:off x="466722" y="586855"/>
            <a:ext cx="3201366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Quick Recap — What Have We Learned So Far?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3FD748-E96D-2BC1-5182-30B6DD04F788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Before working with </a:t>
            </a:r>
            <a:r>
              <a:rPr lang="en-US" sz="1400" b="1"/>
              <a:t>lists</a:t>
            </a:r>
            <a:r>
              <a:rPr lang="en-US" sz="1400"/>
              <a:t>, let’s recall some important Python concepts.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Variables and Values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name = "Ali"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score = 85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2. Decisions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if score &gt;= 60: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    print("Pass")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else: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    print("Fail")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3. Loops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for number in range(3):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    print(number)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4. Functions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def double(number):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    return number * 2</a:t>
            </a:r>
          </a:p>
        </p:txBody>
      </p:sp>
    </p:spTree>
    <p:extLst>
      <p:ext uri="{BB962C8B-B14F-4D97-AF65-F5344CB8AC3E}">
        <p14:creationId xmlns:p14="http://schemas.microsoft.com/office/powerpoint/2010/main" val="272411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AF18AD-B7F5-B9C4-AE7E-06214916757F}"/>
              </a:ext>
            </a:extLst>
          </p:cNvPr>
          <p:cNvSpPr txBox="1"/>
          <p:nvPr/>
        </p:nvSpPr>
        <p:spPr>
          <a:xfrm>
            <a:off x="3185580" y="656117"/>
            <a:ext cx="6092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Quick Questions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3BB94-43DF-A1EE-9618-96523E742958}"/>
              </a:ext>
            </a:extLst>
          </p:cNvPr>
          <p:cNvSpPr txBox="1"/>
          <p:nvPr/>
        </p:nvSpPr>
        <p:spPr>
          <a:xfrm>
            <a:off x="569562" y="1620885"/>
            <a:ext cx="11317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will this code print?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CBAAE8FF-1512-518C-183B-0A64E4D93D1E}"/>
              </a:ext>
            </a:extLst>
          </p:cNvPr>
          <p:cNvSpPr/>
          <p:nvPr/>
        </p:nvSpPr>
        <p:spPr>
          <a:xfrm>
            <a:off x="2339925" y="2204064"/>
            <a:ext cx="6260123" cy="2142302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1D822AF-1553-DF98-88F1-8FCA8F507FC8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76D746CF-15BF-8F5F-6C8E-D1557C0AF0B2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30AA8DE-6917-1A67-37B0-5A04427A9147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774317F8-AB3C-B51A-862E-1D4C722A8062}"/>
              </a:ext>
            </a:extLst>
          </p:cNvPr>
          <p:cNvSpPr/>
          <p:nvPr/>
        </p:nvSpPr>
        <p:spPr>
          <a:xfrm>
            <a:off x="2595957" y="2679551"/>
            <a:ext cx="5622729" cy="133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number in range(1, 4):</a:t>
            </a: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print(number)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3846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3EBA-CB6E-1CFE-5A2F-E9C785CF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5F287F-BB7B-5B0D-E3EB-0A44A438A3E2}"/>
              </a:ext>
            </a:extLst>
          </p:cNvPr>
          <p:cNvSpPr txBox="1"/>
          <p:nvPr/>
        </p:nvSpPr>
        <p:spPr>
          <a:xfrm>
            <a:off x="3185580" y="656117"/>
            <a:ext cx="6092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Quick recap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33277-7FB7-E86D-B348-29A0709E1A3A}"/>
              </a:ext>
            </a:extLst>
          </p:cNvPr>
          <p:cNvSpPr txBox="1"/>
          <p:nvPr/>
        </p:nvSpPr>
        <p:spPr>
          <a:xfrm>
            <a:off x="569562" y="1620885"/>
            <a:ext cx="11317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will this code print?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5190BCC-F9F7-34F3-7018-17C91D43950B}"/>
              </a:ext>
            </a:extLst>
          </p:cNvPr>
          <p:cNvSpPr/>
          <p:nvPr/>
        </p:nvSpPr>
        <p:spPr>
          <a:xfrm>
            <a:off x="2339925" y="2204064"/>
            <a:ext cx="6260123" cy="2142302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1F9DCD8-5123-D645-7090-F4B01E18865D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FABEEF12-912F-42D4-B0BC-DBB96C686F75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64DD968-A212-7E69-5E88-1DBBD48F1F4D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62CA0A75-2D50-5104-B0FC-F2184D9084F4}"/>
              </a:ext>
            </a:extLst>
          </p:cNvPr>
          <p:cNvSpPr/>
          <p:nvPr/>
        </p:nvSpPr>
        <p:spPr>
          <a:xfrm>
            <a:off x="2595957" y="2679551"/>
            <a:ext cx="5622729" cy="133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number in range(1, 4):</a:t>
            </a: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print(number)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29E25-AEAD-5C07-B201-6D2A7DFD5773}"/>
              </a:ext>
            </a:extLst>
          </p:cNvPr>
          <p:cNvSpPr txBox="1"/>
          <p:nvPr/>
        </p:nvSpPr>
        <p:spPr>
          <a:xfrm>
            <a:off x="3807120" y="5694051"/>
            <a:ext cx="3200401" cy="10156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1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2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3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8" name="Striped Right Arrow 12">
            <a:extLst>
              <a:ext uri="{FF2B5EF4-FFF2-40B4-BE49-F238E27FC236}">
                <a16:creationId xmlns:a16="http://schemas.microsoft.com/office/drawing/2014/main" id="{EB02830E-481D-C375-071C-08CE00CC1E29}"/>
              </a:ext>
            </a:extLst>
          </p:cNvPr>
          <p:cNvSpPr/>
          <p:nvPr/>
        </p:nvSpPr>
        <p:spPr>
          <a:xfrm rot="5400000">
            <a:off x="4969289" y="4786432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37651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85097C-8B86-394A-08B8-546B1FA46F9A}"/>
              </a:ext>
            </a:extLst>
          </p:cNvPr>
          <p:cNvSpPr txBox="1"/>
          <p:nvPr/>
        </p:nvSpPr>
        <p:spPr>
          <a:xfrm>
            <a:off x="800100" y="685801"/>
            <a:ext cx="107931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So far, we have often stored </a:t>
            </a:r>
            <a:r>
              <a:rPr lang="en-US" sz="2400" b="1" dirty="0"/>
              <a:t>one value in one variable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But what if we need to store </a:t>
            </a:r>
            <a:r>
              <a:rPr lang="en-US" sz="2400" b="1" dirty="0"/>
              <a:t>many related values together?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53F8813-5C7E-E5D8-093D-2B8C16B42BE9}"/>
              </a:ext>
            </a:extLst>
          </p:cNvPr>
          <p:cNvSpPr/>
          <p:nvPr/>
        </p:nvSpPr>
        <p:spPr>
          <a:xfrm>
            <a:off x="2339925" y="2204064"/>
            <a:ext cx="6260123" cy="2482236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21E0CE3-593A-AFE6-EFE0-4056858D3A2B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9D85C79-059E-C18E-D89C-48AC3AFC12D4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808FC4E-B7A9-D8A1-A90F-FFC6169AD0BF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7AE21018-F65D-40F1-5EF5-79D0D0BB5BF4}"/>
              </a:ext>
            </a:extLst>
          </p:cNvPr>
          <p:cNvSpPr/>
          <p:nvPr/>
        </p:nvSpPr>
        <p:spPr>
          <a:xfrm>
            <a:off x="2595957" y="2679551"/>
            <a:ext cx="5622729" cy="18314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score1 = 85</a:t>
            </a: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score2 = 72</a:t>
            </a: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score3 = 91</a:t>
            </a: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score4 = 68</a:t>
            </a: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score5 = 88</a:t>
            </a:r>
          </a:p>
          <a:p>
            <a:endParaRPr lang="en-US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# Is there a better way?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51607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118629-21C5-C66D-89C9-4C8BEC511D3C}"/>
              </a:ext>
            </a:extLst>
          </p:cNvPr>
          <p:cNvSpPr txBox="1"/>
          <p:nvPr/>
        </p:nvSpPr>
        <p:spPr>
          <a:xfrm>
            <a:off x="3049361" y="599105"/>
            <a:ext cx="6098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Why Do We Need Lists?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C31162-CC03-0DA6-686D-B2BA8234D38A}"/>
              </a:ext>
            </a:extLst>
          </p:cNvPr>
          <p:cNvSpPr txBox="1"/>
          <p:nvPr/>
        </p:nvSpPr>
        <p:spPr>
          <a:xfrm>
            <a:off x="858187" y="1295038"/>
            <a:ext cx="523781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Imagine we want to store the scores of </a:t>
            </a:r>
            <a:r>
              <a:rPr lang="en-US" sz="2000" b="1" dirty="0"/>
              <a:t>5 students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Without a List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88F0FCE-6990-36D4-D63D-975A41B960AB}"/>
              </a:ext>
            </a:extLst>
          </p:cNvPr>
          <p:cNvSpPr/>
          <p:nvPr/>
        </p:nvSpPr>
        <p:spPr>
          <a:xfrm>
            <a:off x="858187" y="2998449"/>
            <a:ext cx="5237813" cy="197609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4AA58D9-ACEF-247B-CBA4-E78CEB677BB3}"/>
              </a:ext>
            </a:extLst>
          </p:cNvPr>
          <p:cNvSpPr/>
          <p:nvPr/>
        </p:nvSpPr>
        <p:spPr>
          <a:xfrm>
            <a:off x="1041068" y="3163040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80E6A737-59FD-A121-1091-2A0DBE55F70F}"/>
              </a:ext>
            </a:extLst>
          </p:cNvPr>
          <p:cNvSpPr/>
          <p:nvPr/>
        </p:nvSpPr>
        <p:spPr>
          <a:xfrm>
            <a:off x="1205660" y="3163040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4066B57-0323-57FF-284D-AB0F75A6AD4D}"/>
              </a:ext>
            </a:extLst>
          </p:cNvPr>
          <p:cNvSpPr/>
          <p:nvPr/>
        </p:nvSpPr>
        <p:spPr>
          <a:xfrm>
            <a:off x="1370252" y="3163040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63865881-4193-DCAC-435C-FF2623A148CC}"/>
              </a:ext>
            </a:extLst>
          </p:cNvPr>
          <p:cNvSpPr/>
          <p:nvPr/>
        </p:nvSpPr>
        <p:spPr>
          <a:xfrm>
            <a:off x="1114219" y="3473936"/>
            <a:ext cx="4856579" cy="150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score1 = 85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score2 = 72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score3 = 91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score4 = 68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score5 = 88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A5D40-45E1-6FC1-9635-D5CEF64DD049}"/>
              </a:ext>
            </a:extLst>
          </p:cNvPr>
          <p:cNvSpPr txBox="1"/>
          <p:nvPr/>
        </p:nvSpPr>
        <p:spPr>
          <a:xfrm>
            <a:off x="858187" y="5173255"/>
            <a:ext cx="5237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works, but what if we have </a:t>
            </a:r>
            <a:r>
              <a:rPr lang="en-US" sz="2000" b="1" dirty="0"/>
              <a:t>100 students?</a:t>
            </a:r>
            <a:endParaRPr lang="en-US" sz="20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01C38EE1-EE21-EA99-B6CE-8E253010B1FB}"/>
              </a:ext>
            </a:extLst>
          </p:cNvPr>
          <p:cNvSpPr/>
          <p:nvPr/>
        </p:nvSpPr>
        <p:spPr>
          <a:xfrm>
            <a:off x="6529174" y="2998449"/>
            <a:ext cx="5237813" cy="197609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25E6BDD2-AB64-6D67-86D7-3DF45E23E96F}"/>
              </a:ext>
            </a:extLst>
          </p:cNvPr>
          <p:cNvSpPr/>
          <p:nvPr/>
        </p:nvSpPr>
        <p:spPr>
          <a:xfrm>
            <a:off x="6712055" y="3163040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1C3B80C1-CA62-FB6B-32F2-F50DEB93EAF6}"/>
              </a:ext>
            </a:extLst>
          </p:cNvPr>
          <p:cNvSpPr/>
          <p:nvPr/>
        </p:nvSpPr>
        <p:spPr>
          <a:xfrm>
            <a:off x="6876647" y="3163040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69D4F4D5-1C38-B5E7-E63D-146BA9B08737}"/>
              </a:ext>
            </a:extLst>
          </p:cNvPr>
          <p:cNvSpPr/>
          <p:nvPr/>
        </p:nvSpPr>
        <p:spPr>
          <a:xfrm>
            <a:off x="7041239" y="3163040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CAAA53FF-66DF-A3E6-5496-0DB5A55559F6}"/>
              </a:ext>
            </a:extLst>
          </p:cNvPr>
          <p:cNvSpPr/>
          <p:nvPr/>
        </p:nvSpPr>
        <p:spPr>
          <a:xfrm>
            <a:off x="6785206" y="3473936"/>
            <a:ext cx="4856579" cy="150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[85, 72, 91, 68, 88]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BD699E-F100-89F8-354F-942A4BB997E8}"/>
              </a:ext>
            </a:extLst>
          </p:cNvPr>
          <p:cNvSpPr txBox="1"/>
          <p:nvPr/>
        </p:nvSpPr>
        <p:spPr>
          <a:xfrm>
            <a:off x="6529174" y="2249145"/>
            <a:ext cx="52378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Better Solution — A List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FB3851-3DFB-5BF5-B032-6ABCD6B9EA72}"/>
              </a:ext>
            </a:extLst>
          </p:cNvPr>
          <p:cNvSpPr txBox="1"/>
          <p:nvPr/>
        </p:nvSpPr>
        <p:spPr>
          <a:xfrm>
            <a:off x="6411726" y="5250199"/>
            <a:ext cx="56035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Now </a:t>
            </a:r>
            <a:r>
              <a:rPr lang="en-US" sz="2000" b="1" dirty="0"/>
              <a:t>one variable</a:t>
            </a:r>
            <a:r>
              <a:rPr lang="en-US" sz="2000" dirty="0"/>
              <a:t> can refer to a collection of related values.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E4869C-4989-1F2A-3D7E-0C1219AE6DA2}"/>
              </a:ext>
            </a:extLst>
          </p:cNvPr>
          <p:cNvSpPr txBox="1"/>
          <p:nvPr/>
        </p:nvSpPr>
        <p:spPr>
          <a:xfrm>
            <a:off x="858187" y="6197556"/>
            <a:ext cx="109087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list allows us to store multiple values together in an ordered collection.</a:t>
            </a:r>
          </a:p>
        </p:txBody>
      </p:sp>
    </p:spTree>
    <p:extLst>
      <p:ext uri="{BB962C8B-B14F-4D97-AF65-F5344CB8AC3E}">
        <p14:creationId xmlns:p14="http://schemas.microsoft.com/office/powerpoint/2010/main" val="1516777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7A4534-9EA7-B100-2728-8BBC1C2D03C1}"/>
              </a:ext>
            </a:extLst>
          </p:cNvPr>
          <p:cNvSpPr txBox="1"/>
          <p:nvPr/>
        </p:nvSpPr>
        <p:spPr>
          <a:xfrm>
            <a:off x="3049292" y="520506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What Is a List?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C7634-F368-38EA-A63E-FBD279C700B0}"/>
              </a:ext>
            </a:extLst>
          </p:cNvPr>
          <p:cNvSpPr txBox="1"/>
          <p:nvPr/>
        </p:nvSpPr>
        <p:spPr>
          <a:xfrm>
            <a:off x="545432" y="1283368"/>
            <a:ext cx="1137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list</a:t>
            </a:r>
            <a:r>
              <a:rPr lang="en-US" sz="2000" dirty="0"/>
              <a:t> is an </a:t>
            </a:r>
            <a:r>
              <a:rPr lang="en-US" sz="2000" b="1" dirty="0"/>
              <a:t>ordered collection of values</a:t>
            </a:r>
            <a:r>
              <a:rPr lang="en-US" sz="2000" dirty="0"/>
              <a:t> stored together in Python.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83AE273-95CA-556F-996C-C23098AC8562}"/>
              </a:ext>
            </a:extLst>
          </p:cNvPr>
          <p:cNvSpPr/>
          <p:nvPr/>
        </p:nvSpPr>
        <p:spPr>
          <a:xfrm>
            <a:off x="2339925" y="2204064"/>
            <a:ext cx="6260123" cy="2142302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53FE70A-282C-369B-0244-2F7977A1E32F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F227C268-0F2A-7427-9699-EAFDABBF91E2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D131F5D-BDBF-9BF7-CFF3-32A579DBF4DB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FE2D1207-0EB4-5171-18C6-F2F7AEE83B26}"/>
              </a:ext>
            </a:extLst>
          </p:cNvPr>
          <p:cNvSpPr/>
          <p:nvPr/>
        </p:nvSpPr>
        <p:spPr>
          <a:xfrm>
            <a:off x="2595957" y="2679551"/>
            <a:ext cx="5622729" cy="133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[85, 72, 91, 68, 88]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0A3CD6-8768-DC7E-B19F-09B02C9009A1}"/>
              </a:ext>
            </a:extLst>
          </p:cNvPr>
          <p:cNvSpPr txBox="1"/>
          <p:nvPr/>
        </p:nvSpPr>
        <p:spPr>
          <a:xfrm>
            <a:off x="755542" y="4866952"/>
            <a:ext cx="784450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Here: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scores</a:t>
            </a:r>
            <a:r>
              <a:rPr lang="en-US" sz="2000" dirty="0"/>
              <a:t> → variable name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[ ]</a:t>
            </a:r>
            <a:r>
              <a:rPr lang="en-US" sz="2000" dirty="0"/>
              <a:t> → square brackets define the list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85, 72, 91, 68, 88</a:t>
            </a:r>
            <a:r>
              <a:rPr lang="en-US" sz="2000" dirty="0"/>
              <a:t> → </a:t>
            </a:r>
            <a:r>
              <a:rPr lang="en-US" sz="2000" b="1" dirty="0"/>
              <a:t>items (elements)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,</a:t>
            </a:r>
            <a:r>
              <a:rPr lang="en-US" sz="2000" dirty="0"/>
              <a:t> → separates the items</a:t>
            </a:r>
          </a:p>
        </p:txBody>
      </p:sp>
    </p:spTree>
    <p:extLst>
      <p:ext uri="{BB962C8B-B14F-4D97-AF65-F5344CB8AC3E}">
        <p14:creationId xmlns:p14="http://schemas.microsoft.com/office/powerpoint/2010/main" val="64451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18D3D-4400-0E40-BA12-6DCC0BDEA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B7C513-4A9D-FE76-2CCF-945728AE302D}"/>
              </a:ext>
            </a:extLst>
          </p:cNvPr>
          <p:cNvSpPr txBox="1"/>
          <p:nvPr/>
        </p:nvSpPr>
        <p:spPr>
          <a:xfrm>
            <a:off x="545432" y="1283368"/>
            <a:ext cx="1137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Lists Can Store Different Types of Values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8BB5D06-5692-8FBF-CC7D-F4F326B9939C}"/>
              </a:ext>
            </a:extLst>
          </p:cNvPr>
          <p:cNvSpPr/>
          <p:nvPr/>
        </p:nvSpPr>
        <p:spPr>
          <a:xfrm>
            <a:off x="2339925" y="2204064"/>
            <a:ext cx="6260123" cy="2142302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CD8147B7-C997-080E-E2CF-BDE816BB9BD9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3A2366A2-3DC5-3523-A9DE-8CF781055FDD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18B6B35-4A17-3FD3-CB03-0132934FE1E1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9D2DE78-8A8E-46D4-0FCF-B515B32D4E7B}"/>
              </a:ext>
            </a:extLst>
          </p:cNvPr>
          <p:cNvSpPr/>
          <p:nvPr/>
        </p:nvSpPr>
        <p:spPr>
          <a:xfrm>
            <a:off x="2595957" y="2679551"/>
            <a:ext cx="5622729" cy="133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30]</a:t>
            </a:r>
          </a:p>
          <a:p>
            <a:endParaRPr lang="en-US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names = ["Ali", "Sara", "Tom"]</a:t>
            </a:r>
          </a:p>
          <a:p>
            <a:endParaRPr lang="en-US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mixed = ["Ali", 20, True, 85.5]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061950-0522-7231-95FC-EB05D462F57D}"/>
              </a:ext>
            </a:extLst>
          </p:cNvPr>
          <p:cNvSpPr txBox="1"/>
          <p:nvPr/>
        </p:nvSpPr>
        <p:spPr>
          <a:xfrm>
            <a:off x="755542" y="5765854"/>
            <a:ext cx="11163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Important:</a:t>
            </a:r>
            <a:r>
              <a:rPr lang="en-US" sz="2000" dirty="0"/>
              <a:t> A Python list can contain values of the same type or different types.</a:t>
            </a:r>
          </a:p>
        </p:txBody>
      </p:sp>
    </p:spTree>
    <p:extLst>
      <p:ext uri="{BB962C8B-B14F-4D97-AF65-F5344CB8AC3E}">
        <p14:creationId xmlns:p14="http://schemas.microsoft.com/office/powerpoint/2010/main" val="529078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36175C-6E6C-0742-650B-48CFF6FE6D42}"/>
              </a:ext>
            </a:extLst>
          </p:cNvPr>
          <p:cNvSpPr txBox="1"/>
          <p:nvPr/>
        </p:nvSpPr>
        <p:spPr>
          <a:xfrm>
            <a:off x="3046709" y="628994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Creating Lists with List Literals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BF869F-6263-DDE4-A077-BBC0D624B072}"/>
              </a:ext>
            </a:extLst>
          </p:cNvPr>
          <p:cNvSpPr txBox="1"/>
          <p:nvPr/>
        </p:nvSpPr>
        <p:spPr>
          <a:xfrm>
            <a:off x="309966" y="1503337"/>
            <a:ext cx="114997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simplest way to create a list is to place values inside </a:t>
            </a:r>
            <a:r>
              <a:rPr lang="en-US" sz="2000" b="1" dirty="0"/>
              <a:t>square brackets </a:t>
            </a:r>
            <a:r>
              <a:rPr lang="en-US" sz="2000" b="1" dirty="0">
                <a:latin typeface="+mn-lt"/>
              </a:rPr>
              <a:t>[ ]</a:t>
            </a:r>
            <a:r>
              <a:rPr lang="en-US" sz="2000" dirty="0"/>
              <a:t>, separated by commas.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045536D-0B91-CC8F-7BDC-94E882EFE3E3}"/>
              </a:ext>
            </a:extLst>
          </p:cNvPr>
          <p:cNvSpPr/>
          <p:nvPr/>
        </p:nvSpPr>
        <p:spPr>
          <a:xfrm>
            <a:off x="2339925" y="2204064"/>
            <a:ext cx="6260123" cy="2142302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107474E-765E-C344-4683-E891AD178171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44A83DA5-2387-2754-5A48-11C0256E22C2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8DF9A5C0-044C-872D-267B-7EA5F3D7D1AB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FEEBBED-AEA3-E752-E7B4-2C18588CE779}"/>
              </a:ext>
            </a:extLst>
          </p:cNvPr>
          <p:cNvSpPr/>
          <p:nvPr/>
        </p:nvSpPr>
        <p:spPr>
          <a:xfrm>
            <a:off x="2595957" y="2679551"/>
            <a:ext cx="5622729" cy="133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 = ["red", "green", "blue"]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39250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47FE-F877-6CF9-3B90-539F0429D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7054FA-D834-B04D-9774-F8118F0A7778}"/>
              </a:ext>
            </a:extLst>
          </p:cNvPr>
          <p:cNvSpPr txBox="1"/>
          <p:nvPr/>
        </p:nvSpPr>
        <p:spPr>
          <a:xfrm>
            <a:off x="545432" y="1283368"/>
            <a:ext cx="11373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Different Examples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5CCC516-5BB9-DBEE-9B56-EFB75100AD2C}"/>
              </a:ext>
            </a:extLst>
          </p:cNvPr>
          <p:cNvSpPr/>
          <p:nvPr/>
        </p:nvSpPr>
        <p:spPr>
          <a:xfrm>
            <a:off x="2339925" y="2204063"/>
            <a:ext cx="6260123" cy="297237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037D723-F274-1CF9-12DB-98444EEC5E6F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53B6CFC-023E-F2A0-8F81-96763C3F23AC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EEE0517-EF6E-7800-569F-5387B148D05D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E3192A2-4B67-E2F5-FA1C-661FEC7DE6D0}"/>
              </a:ext>
            </a:extLst>
          </p:cNvPr>
          <p:cNvSpPr/>
          <p:nvPr/>
        </p:nvSpPr>
        <p:spPr>
          <a:xfrm>
            <a:off x="2595957" y="2679550"/>
            <a:ext cx="5622729" cy="22895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ages = [18, 20, 19, 21]</a:t>
            </a:r>
          </a:p>
          <a:p>
            <a:endParaRPr lang="en-US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prices = [12.5, 8.99, 15.0]</a:t>
            </a:r>
          </a:p>
          <a:p>
            <a:endParaRPr lang="en-US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names = ["Ali", "Sara", "John"]</a:t>
            </a:r>
          </a:p>
          <a:p>
            <a:endParaRPr lang="en-US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answers = [True, False, True]</a:t>
            </a:r>
          </a:p>
          <a:p>
            <a:endParaRPr lang="en-US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students = [ 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D4827-1955-945D-B70F-684548398A78}"/>
              </a:ext>
            </a:extLst>
          </p:cNvPr>
          <p:cNvSpPr txBox="1"/>
          <p:nvPr/>
        </p:nvSpPr>
        <p:spPr>
          <a:xfrm>
            <a:off x="545432" y="5438116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list can also start with </a:t>
            </a:r>
            <a:r>
              <a:rPr lang="en-US" sz="2000" b="1" dirty="0"/>
              <a:t>no items</a:t>
            </a:r>
            <a:r>
              <a:rPr lang="en-US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523216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F9FA8-CE2B-E033-7E2A-5A1E3CCA5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955D4A-15ED-D028-306E-A46E02825BD3}"/>
              </a:ext>
            </a:extLst>
          </p:cNvPr>
          <p:cNvSpPr txBox="1"/>
          <p:nvPr/>
        </p:nvSpPr>
        <p:spPr>
          <a:xfrm>
            <a:off x="545432" y="1283368"/>
            <a:ext cx="113738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Important</a:t>
            </a:r>
          </a:p>
          <a:p>
            <a:r>
              <a:rPr lang="en-US" sz="2000" dirty="0"/>
              <a:t>These are all </a:t>
            </a:r>
            <a:r>
              <a:rPr lang="en-US" sz="2000" b="1" dirty="0"/>
              <a:t>list literals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95C2737A-3C70-EEC7-14FF-78C266265FEE}"/>
              </a:ext>
            </a:extLst>
          </p:cNvPr>
          <p:cNvSpPr/>
          <p:nvPr/>
        </p:nvSpPr>
        <p:spPr>
          <a:xfrm>
            <a:off x="2339925" y="2204063"/>
            <a:ext cx="6260123" cy="297237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0BF85C8-365B-76FA-4D06-6A535320AAB3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5C86546-32B5-3F16-AAA1-3FEDBF1B8EF3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ACEA3BC-D63D-BA19-70ED-8928C93EDE2B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239B404E-C9EC-4BBC-CED1-E1C340F6F595}"/>
              </a:ext>
            </a:extLst>
          </p:cNvPr>
          <p:cNvSpPr/>
          <p:nvPr/>
        </p:nvSpPr>
        <p:spPr>
          <a:xfrm>
            <a:off x="2595957" y="2679550"/>
            <a:ext cx="5622729" cy="22895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r>
              <a:rPr lang="it-IT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[10, 20, 30]</a:t>
            </a:r>
          </a:p>
          <a:p>
            <a:endParaRPr lang="it-IT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it-IT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["apple", "banana"]</a:t>
            </a:r>
          </a:p>
          <a:p>
            <a:endParaRPr lang="it-IT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it-IT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[True, False]</a:t>
            </a:r>
          </a:p>
          <a:p>
            <a:endParaRPr lang="it-IT" sz="24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it-IT" sz="24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[]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F1793-4833-BC25-5C9D-6E546F539041}"/>
              </a:ext>
            </a:extLst>
          </p:cNvPr>
          <p:cNvSpPr txBox="1"/>
          <p:nvPr/>
        </p:nvSpPr>
        <p:spPr>
          <a:xfrm>
            <a:off x="545431" y="5438116"/>
            <a:ext cx="97919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List literal = a list written directly in the program using </a:t>
            </a:r>
            <a:r>
              <a:rPr lang="en-US" dirty="0"/>
              <a:t>[ ]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47854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6E56A-A8A3-965C-2F53-63503951B619}"/>
              </a:ext>
            </a:extLst>
          </p:cNvPr>
          <p:cNvSpPr txBox="1"/>
          <p:nvPr/>
        </p:nvSpPr>
        <p:spPr>
          <a:xfrm>
            <a:off x="1437468" y="2541199"/>
            <a:ext cx="609858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A. 10, 20, 30</a:t>
            </a:r>
          </a:p>
          <a:p>
            <a:endParaRPr lang="en-US" sz="2000" b="1" dirty="0"/>
          </a:p>
          <a:p>
            <a:r>
              <a:rPr lang="en-US" sz="2000" b="1" dirty="0"/>
              <a:t>B. [10, 20, 30]</a:t>
            </a:r>
          </a:p>
          <a:p>
            <a:endParaRPr lang="en-US" sz="2000" b="1" dirty="0"/>
          </a:p>
          <a:p>
            <a:r>
              <a:rPr lang="en-US" sz="2000" b="1" dirty="0"/>
              <a:t>C. (10, 20, 30)</a:t>
            </a:r>
          </a:p>
          <a:p>
            <a:endParaRPr lang="en-US" sz="2000" b="1" dirty="0"/>
          </a:p>
          <a:p>
            <a:r>
              <a:rPr lang="en-US" sz="2000" b="1" dirty="0"/>
              <a:t>D. "10, 20, 30"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81D404-DD65-963A-46E7-C71E803FBE7D}"/>
              </a:ext>
            </a:extLst>
          </p:cNvPr>
          <p:cNvSpPr txBox="1"/>
          <p:nvPr/>
        </p:nvSpPr>
        <p:spPr>
          <a:xfrm>
            <a:off x="3049292" y="567987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Quick Check</a:t>
            </a:r>
          </a:p>
          <a:p>
            <a:pPr>
              <a:buNone/>
            </a:pPr>
            <a:r>
              <a:rPr lang="en-US" sz="2000" dirty="0"/>
              <a:t>Which of these is a list?</a:t>
            </a:r>
          </a:p>
        </p:txBody>
      </p:sp>
    </p:spTree>
    <p:extLst>
      <p:ext uri="{BB962C8B-B14F-4D97-AF65-F5344CB8AC3E}">
        <p14:creationId xmlns:p14="http://schemas.microsoft.com/office/powerpoint/2010/main" val="3121536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C9F9A-ED71-37C9-338A-3BB13E81B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E9DF9C-F018-5144-E9A0-83A884CF027A}"/>
              </a:ext>
            </a:extLst>
          </p:cNvPr>
          <p:cNvSpPr txBox="1"/>
          <p:nvPr/>
        </p:nvSpPr>
        <p:spPr>
          <a:xfrm>
            <a:off x="1437468" y="2541199"/>
            <a:ext cx="609858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A. 10, 20, 30</a:t>
            </a:r>
          </a:p>
          <a:p>
            <a:endParaRPr lang="en-US" sz="2000" b="1" dirty="0"/>
          </a:p>
          <a:p>
            <a:r>
              <a:rPr lang="en-US" sz="2000" b="1" dirty="0"/>
              <a:t>B. [10, 20, 30]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C. (10, 20, 30)</a:t>
            </a:r>
          </a:p>
          <a:p>
            <a:endParaRPr lang="en-US" sz="2000" b="1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2000" b="1" dirty="0">
                <a:solidFill>
                  <a:schemeClr val="bg1">
                    <a:lumMod val="85000"/>
                  </a:schemeClr>
                </a:solidFill>
              </a:rPr>
              <a:t>D. "10, 20, 30"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9F547-8719-3B73-39C6-AF475E4CD193}"/>
              </a:ext>
            </a:extLst>
          </p:cNvPr>
          <p:cNvSpPr txBox="1"/>
          <p:nvPr/>
        </p:nvSpPr>
        <p:spPr>
          <a:xfrm>
            <a:off x="3049292" y="567987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Quick Check</a:t>
            </a:r>
          </a:p>
          <a:p>
            <a:pPr>
              <a:buNone/>
            </a:pPr>
            <a:r>
              <a:rPr lang="en-US" sz="2000" dirty="0"/>
              <a:t>Which of these is a list?</a:t>
            </a:r>
          </a:p>
        </p:txBody>
      </p:sp>
    </p:spTree>
    <p:extLst>
      <p:ext uri="{BB962C8B-B14F-4D97-AF65-F5344CB8AC3E}">
        <p14:creationId xmlns:p14="http://schemas.microsoft.com/office/powerpoint/2010/main" val="2577065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129E84-658F-3644-F86F-5F2FFE08EF93}"/>
              </a:ext>
            </a:extLst>
          </p:cNvPr>
          <p:cNvSpPr txBox="1"/>
          <p:nvPr/>
        </p:nvSpPr>
        <p:spPr>
          <a:xfrm>
            <a:off x="3049292" y="350025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Accessing List Items with Indexes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89856-2B75-E101-E4F2-51DD31F0F7E7}"/>
              </a:ext>
            </a:extLst>
          </p:cNvPr>
          <p:cNvSpPr txBox="1"/>
          <p:nvPr/>
        </p:nvSpPr>
        <p:spPr>
          <a:xfrm>
            <a:off x="755543" y="1248926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Each item in a list has a position called an </a:t>
            </a:r>
            <a:r>
              <a:rPr lang="en-US" sz="2000" b="1" dirty="0"/>
              <a:t>index</a:t>
            </a:r>
            <a:r>
              <a:rPr lang="en-US" sz="2000" dirty="0"/>
              <a:t>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EEC3039-8B17-9B54-289E-542D05581FCB}"/>
              </a:ext>
            </a:extLst>
          </p:cNvPr>
          <p:cNvSpPr/>
          <p:nvPr/>
        </p:nvSpPr>
        <p:spPr>
          <a:xfrm>
            <a:off x="2339925" y="2204064"/>
            <a:ext cx="7256118" cy="182549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D040872-ED84-BEE8-336F-19C7E0FC6516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4945969-C94A-C3FC-A1F0-D85D1DAD8057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1AEA68D-DD24-1436-9BD9-188088D153E1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F65EBE6-35D4-02DD-E504-05B146CF0993}"/>
              </a:ext>
            </a:extLst>
          </p:cNvPr>
          <p:cNvSpPr/>
          <p:nvPr/>
        </p:nvSpPr>
        <p:spPr>
          <a:xfrm>
            <a:off x="2595957" y="2679550"/>
            <a:ext cx="6842511" cy="101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 = ["red", "green", "blue", "yellow"]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17DFD1-5984-1F4C-80DD-E5072A87F04C}"/>
              </a:ext>
            </a:extLst>
          </p:cNvPr>
          <p:cNvSpPr txBox="1"/>
          <p:nvPr/>
        </p:nvSpPr>
        <p:spPr>
          <a:xfrm>
            <a:off x="3192651" y="5190970"/>
            <a:ext cx="64033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List:      ["red",  "green",  "blue",  "yellow"]</a:t>
            </a:r>
          </a:p>
          <a:p>
            <a:r>
              <a:rPr lang="en-US" sz="2000" dirty="0"/>
              <a:t>                     ↑        ↑                   ↑         ↑</a:t>
            </a:r>
          </a:p>
          <a:p>
            <a:r>
              <a:rPr lang="en-US" sz="2000" dirty="0"/>
              <a:t>Index:        0        1                    2        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1AFDB7-139B-5B81-2ECF-1588110FB345}"/>
              </a:ext>
            </a:extLst>
          </p:cNvPr>
          <p:cNvSpPr txBox="1"/>
          <p:nvPr/>
        </p:nvSpPr>
        <p:spPr>
          <a:xfrm>
            <a:off x="755543" y="4790860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Index Positions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7D8D73-77D2-6D24-E313-C74187A6568F}"/>
              </a:ext>
            </a:extLst>
          </p:cNvPr>
          <p:cNvSpPr txBox="1"/>
          <p:nvPr/>
        </p:nvSpPr>
        <p:spPr>
          <a:xfrm>
            <a:off x="5712402" y="6323309"/>
            <a:ext cx="64033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Important:</a:t>
            </a:r>
            <a:r>
              <a:rPr lang="en-US" sz="2000" dirty="0"/>
              <a:t> Python starts counting indexes from </a:t>
            </a:r>
            <a:r>
              <a:rPr lang="en-US" sz="2000" b="1" dirty="0"/>
              <a:t>0</a:t>
            </a:r>
            <a:r>
              <a:rPr lang="en-US" sz="2000" dirty="0"/>
              <a:t>, not 1.</a:t>
            </a:r>
          </a:p>
        </p:txBody>
      </p:sp>
    </p:spTree>
    <p:extLst>
      <p:ext uri="{BB962C8B-B14F-4D97-AF65-F5344CB8AC3E}">
        <p14:creationId xmlns:p14="http://schemas.microsoft.com/office/powerpoint/2010/main" val="1827005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5D4250-9EBE-711D-07DA-FD9C4262AE65}"/>
              </a:ext>
            </a:extLst>
          </p:cNvPr>
          <p:cNvSpPr txBox="1"/>
          <p:nvPr/>
        </p:nvSpPr>
        <p:spPr>
          <a:xfrm>
            <a:off x="1301859" y="232475"/>
            <a:ext cx="9903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dirty="0"/>
              <a:t>Access an Item</a:t>
            </a:r>
          </a:p>
          <a:p>
            <a:pPr algn="ctr">
              <a:buNone/>
            </a:pPr>
            <a:r>
              <a:rPr lang="en-US" sz="2400" dirty="0"/>
              <a:t>Use the list name followed by the index inside square brackets: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0539007A-F363-0995-683A-71DECEB94D27}"/>
              </a:ext>
            </a:extLst>
          </p:cNvPr>
          <p:cNvSpPr/>
          <p:nvPr/>
        </p:nvSpPr>
        <p:spPr>
          <a:xfrm>
            <a:off x="2339925" y="2204064"/>
            <a:ext cx="7256118" cy="182549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9A691A5-EBAD-A347-D1AB-658B43F83C18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AF27973-3514-FC54-D752-2B7C8E186EA0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8E08AB5-C6A5-3114-309E-3FA00988AC6B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B7F4E2F1-1ACE-C93A-DAD6-151A5F8C3975}"/>
              </a:ext>
            </a:extLst>
          </p:cNvPr>
          <p:cNvSpPr/>
          <p:nvPr/>
        </p:nvSpPr>
        <p:spPr>
          <a:xfrm>
            <a:off x="2595957" y="2679550"/>
            <a:ext cx="6842511" cy="101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[0])</a:t>
            </a: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[2])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92AAAF-5141-B7FF-3178-CCA063439BBC}"/>
              </a:ext>
            </a:extLst>
          </p:cNvPr>
          <p:cNvSpPr txBox="1"/>
          <p:nvPr/>
        </p:nvSpPr>
        <p:spPr>
          <a:xfrm>
            <a:off x="3807120" y="5694051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red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blue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7" name="Striped Right Arrow 12">
            <a:extLst>
              <a:ext uri="{FF2B5EF4-FFF2-40B4-BE49-F238E27FC236}">
                <a16:creationId xmlns:a16="http://schemas.microsoft.com/office/drawing/2014/main" id="{1A4D464B-AF75-F579-8570-30C7D6DD1906}"/>
              </a:ext>
            </a:extLst>
          </p:cNvPr>
          <p:cNvSpPr/>
          <p:nvPr/>
        </p:nvSpPr>
        <p:spPr>
          <a:xfrm rot="5400000">
            <a:off x="4969289" y="4786432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9B7339-5FDE-674F-F0FB-2978403F5A98}"/>
              </a:ext>
            </a:extLst>
          </p:cNvPr>
          <p:cNvSpPr txBox="1"/>
          <p:nvPr/>
        </p:nvSpPr>
        <p:spPr>
          <a:xfrm>
            <a:off x="232475" y="1101503"/>
            <a:ext cx="64033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List:      ["red",  "green",  "blue",  "yellow"]</a:t>
            </a:r>
          </a:p>
          <a:p>
            <a:r>
              <a:rPr lang="en-US" sz="2000" dirty="0"/>
              <a:t>                     ↑        ↑                   ↑         ↑</a:t>
            </a:r>
          </a:p>
          <a:p>
            <a:r>
              <a:rPr lang="en-US" sz="2000" dirty="0"/>
              <a:t>Index:        0        1                    2         3</a:t>
            </a:r>
          </a:p>
        </p:txBody>
      </p:sp>
    </p:spTree>
    <p:extLst>
      <p:ext uri="{BB962C8B-B14F-4D97-AF65-F5344CB8AC3E}">
        <p14:creationId xmlns:p14="http://schemas.microsoft.com/office/powerpoint/2010/main" val="4287067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4CC01-2330-2A60-49D6-1A0C3A359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C45D39-F1CF-4434-91F5-ACD6510B7BA1}"/>
              </a:ext>
            </a:extLst>
          </p:cNvPr>
          <p:cNvSpPr txBox="1"/>
          <p:nvPr/>
        </p:nvSpPr>
        <p:spPr>
          <a:xfrm>
            <a:off x="1301859" y="232475"/>
            <a:ext cx="9903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/>
              <a:t>General Form</a:t>
            </a:r>
          </a:p>
          <a:p>
            <a:pPr algn="ctr">
              <a:buNone/>
            </a:pPr>
            <a:r>
              <a:rPr lang="en-US" sz="2400" dirty="0" err="1"/>
              <a:t>list_name</a:t>
            </a:r>
            <a:r>
              <a:rPr lang="en-US" sz="2400" dirty="0"/>
              <a:t> [index]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6F19C3D0-E20D-7F10-00B3-4029A1ACBD11}"/>
              </a:ext>
            </a:extLst>
          </p:cNvPr>
          <p:cNvSpPr/>
          <p:nvPr/>
        </p:nvSpPr>
        <p:spPr>
          <a:xfrm>
            <a:off x="2339925" y="2204064"/>
            <a:ext cx="5835121" cy="182549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20B2D02-E376-8EF9-968B-342A6C63C4BB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1B12782-6309-C21F-6679-7CAD0F738D1B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F3A2BA42-28C6-5DAB-F9F3-798F6EAF6C92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B37ECF3-FF30-5FAE-D291-43CCA8E68A59}"/>
              </a:ext>
            </a:extLst>
          </p:cNvPr>
          <p:cNvSpPr/>
          <p:nvPr/>
        </p:nvSpPr>
        <p:spPr>
          <a:xfrm>
            <a:off x="2595958" y="2679550"/>
            <a:ext cx="5292680" cy="101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students = ["Ali", "Sara", "Tom"]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print(students[1])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4F6859-447A-8B80-699C-5E441DE7F543}"/>
              </a:ext>
            </a:extLst>
          </p:cNvPr>
          <p:cNvSpPr txBox="1"/>
          <p:nvPr/>
        </p:nvSpPr>
        <p:spPr>
          <a:xfrm>
            <a:off x="3807120" y="5694051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Sara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7" name="Striped Right Arrow 12">
            <a:extLst>
              <a:ext uri="{FF2B5EF4-FFF2-40B4-BE49-F238E27FC236}">
                <a16:creationId xmlns:a16="http://schemas.microsoft.com/office/drawing/2014/main" id="{EA49A12B-C6E4-64ED-2618-32E7314347D5}"/>
              </a:ext>
            </a:extLst>
          </p:cNvPr>
          <p:cNvSpPr/>
          <p:nvPr/>
        </p:nvSpPr>
        <p:spPr>
          <a:xfrm rot="5400000">
            <a:off x="4969289" y="4786432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40927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C079-78D3-B516-0A24-DC1D84416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A1EF4C-4226-7077-0B54-E13EF9A7AE5C}"/>
              </a:ext>
            </a:extLst>
          </p:cNvPr>
          <p:cNvSpPr txBox="1"/>
          <p:nvPr/>
        </p:nvSpPr>
        <p:spPr>
          <a:xfrm>
            <a:off x="1301859" y="232475"/>
            <a:ext cx="9903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Quick Check</a:t>
            </a:r>
          </a:p>
          <a:p>
            <a:r>
              <a:rPr lang="en-US" sz="2400" dirty="0"/>
              <a:t>What will this print?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0C0D91C-C4F0-4769-FC1B-F1CA0234ACB3}"/>
              </a:ext>
            </a:extLst>
          </p:cNvPr>
          <p:cNvSpPr/>
          <p:nvPr/>
        </p:nvSpPr>
        <p:spPr>
          <a:xfrm>
            <a:off x="2339925" y="2204064"/>
            <a:ext cx="5835121" cy="182549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AF443AE-167A-CB07-5E49-091D00C42AAD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4EEC7B85-0031-813F-CACE-F04AE9961FCE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5062CA96-5830-F4A0-1AD8-E22991891A75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00F93873-C2BF-214E-E050-0DCAABE1AC74}"/>
              </a:ext>
            </a:extLst>
          </p:cNvPr>
          <p:cNvSpPr/>
          <p:nvPr/>
        </p:nvSpPr>
        <p:spPr>
          <a:xfrm>
            <a:off x="2595958" y="2679550"/>
            <a:ext cx="5292680" cy="101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40, 50]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print(numbers[3])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10BA63-54D3-E639-7206-43941D8F78BD}"/>
              </a:ext>
            </a:extLst>
          </p:cNvPr>
          <p:cNvSpPr txBox="1"/>
          <p:nvPr/>
        </p:nvSpPr>
        <p:spPr>
          <a:xfrm>
            <a:off x="3807120" y="5694051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7" name="Striped Right Arrow 12">
            <a:extLst>
              <a:ext uri="{FF2B5EF4-FFF2-40B4-BE49-F238E27FC236}">
                <a16:creationId xmlns:a16="http://schemas.microsoft.com/office/drawing/2014/main" id="{98ED0BDF-AE36-9B3F-341C-08F52EDAE093}"/>
              </a:ext>
            </a:extLst>
          </p:cNvPr>
          <p:cNvSpPr/>
          <p:nvPr/>
        </p:nvSpPr>
        <p:spPr>
          <a:xfrm rot="5400000">
            <a:off x="4969289" y="4786432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4108168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14982-81E4-7B7A-681C-85E55258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05F700-EA86-FD5B-C02B-D218E5F2AB0E}"/>
              </a:ext>
            </a:extLst>
          </p:cNvPr>
          <p:cNvSpPr txBox="1"/>
          <p:nvPr/>
        </p:nvSpPr>
        <p:spPr>
          <a:xfrm>
            <a:off x="1301859" y="232475"/>
            <a:ext cx="99034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Quick Check</a:t>
            </a:r>
          </a:p>
          <a:p>
            <a:r>
              <a:rPr lang="en-US" sz="2400" dirty="0"/>
              <a:t>What will this print?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C129492-7A08-5012-E622-15A899A0FE6D}"/>
              </a:ext>
            </a:extLst>
          </p:cNvPr>
          <p:cNvSpPr/>
          <p:nvPr/>
        </p:nvSpPr>
        <p:spPr>
          <a:xfrm>
            <a:off x="2339925" y="2204064"/>
            <a:ext cx="5835121" cy="182549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AF72EEF-FC25-5909-C4DB-DC3B07BF2081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EA94079-C4FF-062D-9D9D-3338EAED86C9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11036C4-CDF1-111E-7898-8BA8E9C4A8EB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DC452CF-3959-BBBF-C6E8-9544FB2D3A37}"/>
              </a:ext>
            </a:extLst>
          </p:cNvPr>
          <p:cNvSpPr/>
          <p:nvPr/>
        </p:nvSpPr>
        <p:spPr>
          <a:xfrm>
            <a:off x="2595958" y="2679550"/>
            <a:ext cx="5292680" cy="101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40, 50]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print(numbers[3])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80F881-2DFC-2AD8-9A33-6BB607B45FBB}"/>
              </a:ext>
            </a:extLst>
          </p:cNvPr>
          <p:cNvSpPr txBox="1"/>
          <p:nvPr/>
        </p:nvSpPr>
        <p:spPr>
          <a:xfrm>
            <a:off x="3807120" y="5694051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40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7" name="Striped Right Arrow 12">
            <a:extLst>
              <a:ext uri="{FF2B5EF4-FFF2-40B4-BE49-F238E27FC236}">
                <a16:creationId xmlns:a16="http://schemas.microsoft.com/office/drawing/2014/main" id="{314FD7D3-EC22-3A6C-3F77-48E104DF488D}"/>
              </a:ext>
            </a:extLst>
          </p:cNvPr>
          <p:cNvSpPr/>
          <p:nvPr/>
        </p:nvSpPr>
        <p:spPr>
          <a:xfrm rot="5400000">
            <a:off x="4969289" y="4786432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46291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32B2B1-2363-80DE-6E3F-542630CAE9BE}"/>
              </a:ext>
            </a:extLst>
          </p:cNvPr>
          <p:cNvSpPr txBox="1"/>
          <p:nvPr/>
        </p:nvSpPr>
        <p:spPr>
          <a:xfrm>
            <a:off x="3049292" y="644493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Accessing Items from the 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534782-0923-0FCD-2B78-A7ACF22D42AD}"/>
              </a:ext>
            </a:extLst>
          </p:cNvPr>
          <p:cNvSpPr txBox="1"/>
          <p:nvPr/>
        </p:nvSpPr>
        <p:spPr>
          <a:xfrm>
            <a:off x="464949" y="1348353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Python also allows </a:t>
            </a:r>
            <a:r>
              <a:rPr lang="en-US" sz="2000" b="1" dirty="0"/>
              <a:t>negative indexes</a:t>
            </a:r>
            <a:r>
              <a:rPr lang="en-US" sz="2000" dirty="0"/>
              <a:t> to access items starting from the end of a list.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CEE7C9-D90C-B9E4-C018-A9DFD4C90FFB}"/>
              </a:ext>
            </a:extLst>
          </p:cNvPr>
          <p:cNvSpPr txBox="1"/>
          <p:nvPr/>
        </p:nvSpPr>
        <p:spPr>
          <a:xfrm>
            <a:off x="1456841" y="2476252"/>
            <a:ext cx="8648054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/>
              <a:t>List:       "red"    "green"    "blue"    "yellow"</a:t>
            </a:r>
          </a:p>
          <a:p>
            <a:r>
              <a:rPr lang="en-US" sz="2000" dirty="0"/>
              <a:t>                      ↑         ↑                  ↑          ↑</a:t>
            </a:r>
          </a:p>
          <a:p>
            <a:r>
              <a:rPr lang="en-US" sz="2000" dirty="0"/>
              <a:t>Positive:    0         1                   2          3</a:t>
            </a:r>
          </a:p>
          <a:p>
            <a:r>
              <a:rPr lang="en-US" sz="2000" dirty="0"/>
              <a:t>Negative:   -4     -3                  -2         -1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334C4-D049-42CF-A950-7DBC12617B20}"/>
              </a:ext>
            </a:extLst>
          </p:cNvPr>
          <p:cNvSpPr txBox="1"/>
          <p:nvPr/>
        </p:nvSpPr>
        <p:spPr>
          <a:xfrm>
            <a:off x="464949" y="1920063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Positive and Negative Indexes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0032AE-F361-CCBE-6567-BCC5A70BD868}"/>
              </a:ext>
            </a:extLst>
          </p:cNvPr>
          <p:cNvSpPr txBox="1"/>
          <p:nvPr/>
        </p:nvSpPr>
        <p:spPr>
          <a:xfrm>
            <a:off x="464949" y="3993202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+mn-lt"/>
              </a:rPr>
              <a:t>-1</a:t>
            </a:r>
            <a:r>
              <a:rPr lang="en-US" sz="2000" dirty="0"/>
              <a:t> always refers to the last item.</a:t>
            </a:r>
          </a:p>
          <a:p>
            <a:r>
              <a:rPr lang="en-US" sz="2000" dirty="0"/>
              <a:t>Example: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C3205F39-2092-D7ED-6309-04079AB20233}"/>
              </a:ext>
            </a:extLst>
          </p:cNvPr>
          <p:cNvSpPr/>
          <p:nvPr/>
        </p:nvSpPr>
        <p:spPr>
          <a:xfrm>
            <a:off x="464949" y="4806793"/>
            <a:ext cx="5835121" cy="182549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0CB5BF27-7A7A-7504-B8C6-05A7879D5FA1}"/>
              </a:ext>
            </a:extLst>
          </p:cNvPr>
          <p:cNvSpPr/>
          <p:nvPr/>
        </p:nvSpPr>
        <p:spPr>
          <a:xfrm>
            <a:off x="647830" y="4971384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EA5ACA4E-A013-2CE2-2096-DB9C4DA78EFD}"/>
              </a:ext>
            </a:extLst>
          </p:cNvPr>
          <p:cNvSpPr/>
          <p:nvPr/>
        </p:nvSpPr>
        <p:spPr>
          <a:xfrm>
            <a:off x="812422" y="4971384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1A9DCE1C-3681-A898-35FE-AA1C63E31E6E}"/>
              </a:ext>
            </a:extLst>
          </p:cNvPr>
          <p:cNvSpPr/>
          <p:nvPr/>
        </p:nvSpPr>
        <p:spPr>
          <a:xfrm>
            <a:off x="977014" y="4971384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4B768342-1904-76A0-6D5C-728FCB0E9E63}"/>
              </a:ext>
            </a:extLst>
          </p:cNvPr>
          <p:cNvSpPr/>
          <p:nvPr/>
        </p:nvSpPr>
        <p:spPr>
          <a:xfrm>
            <a:off x="720982" y="5282279"/>
            <a:ext cx="5292680" cy="1019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[-1])</a:t>
            </a: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[-2])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96128A-553C-60A8-F8CC-578759CE3B8B}"/>
              </a:ext>
            </a:extLst>
          </p:cNvPr>
          <p:cNvSpPr txBox="1"/>
          <p:nvPr/>
        </p:nvSpPr>
        <p:spPr>
          <a:xfrm>
            <a:off x="8007160" y="5468032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yellow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blue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25" name="Striped Right Arrow 12">
            <a:extLst>
              <a:ext uri="{FF2B5EF4-FFF2-40B4-BE49-F238E27FC236}">
                <a16:creationId xmlns:a16="http://schemas.microsoft.com/office/drawing/2014/main" id="{E3528D5D-6CDB-AC24-D039-74CF7192D367}"/>
              </a:ext>
            </a:extLst>
          </p:cNvPr>
          <p:cNvSpPr/>
          <p:nvPr/>
        </p:nvSpPr>
        <p:spPr>
          <a:xfrm>
            <a:off x="6603015" y="5570764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09007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221749-5FA4-32AE-BF45-F28C44733C9E}"/>
              </a:ext>
            </a:extLst>
          </p:cNvPr>
          <p:cNvSpPr txBox="1"/>
          <p:nvPr/>
        </p:nvSpPr>
        <p:spPr>
          <a:xfrm>
            <a:off x="443324" y="1267388"/>
            <a:ext cx="96283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Instead of finding the length and calculating the last index: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872FB9FF-AE08-4931-3B21-9A54C35602B7}"/>
              </a:ext>
            </a:extLst>
          </p:cNvPr>
          <p:cNvSpPr/>
          <p:nvPr/>
        </p:nvSpPr>
        <p:spPr>
          <a:xfrm>
            <a:off x="2339925" y="2204065"/>
            <a:ext cx="5835121" cy="1339138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A095F2C-EB5B-7AEE-F316-E1B89FFB4A90}"/>
              </a:ext>
            </a:extLst>
          </p:cNvPr>
          <p:cNvSpPr/>
          <p:nvPr/>
        </p:nvSpPr>
        <p:spPr>
          <a:xfrm>
            <a:off x="2522806" y="23686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82E8914-C446-D240-8D40-FED4DCFAF430}"/>
              </a:ext>
            </a:extLst>
          </p:cNvPr>
          <p:cNvSpPr/>
          <p:nvPr/>
        </p:nvSpPr>
        <p:spPr>
          <a:xfrm>
            <a:off x="2687398" y="23686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B58133B7-EA59-2694-DCA4-1B942DF73488}"/>
              </a:ext>
            </a:extLst>
          </p:cNvPr>
          <p:cNvSpPr/>
          <p:nvPr/>
        </p:nvSpPr>
        <p:spPr>
          <a:xfrm>
            <a:off x="2851990" y="23686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F971BDE-D666-E7C7-A748-7C52370CDFB6}"/>
              </a:ext>
            </a:extLst>
          </p:cNvPr>
          <p:cNvSpPr/>
          <p:nvPr/>
        </p:nvSpPr>
        <p:spPr>
          <a:xfrm>
            <a:off x="2595958" y="2679550"/>
            <a:ext cx="5292680" cy="61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len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) - 1]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4AC4DD-9FBF-755B-817D-1A9CB9FB63D2}"/>
              </a:ext>
            </a:extLst>
          </p:cNvPr>
          <p:cNvSpPr txBox="1"/>
          <p:nvPr/>
        </p:nvSpPr>
        <p:spPr>
          <a:xfrm>
            <a:off x="3343760" y="375823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Why Is This Useful?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D68907-B06B-3D9B-048C-AC819E609B86}"/>
              </a:ext>
            </a:extLst>
          </p:cNvPr>
          <p:cNvSpPr txBox="1"/>
          <p:nvPr/>
        </p:nvSpPr>
        <p:spPr>
          <a:xfrm>
            <a:off x="443324" y="4080862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we can simply write:</a:t>
            </a: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171075D1-547B-46F7-0B2D-91E253589076}"/>
              </a:ext>
            </a:extLst>
          </p:cNvPr>
          <p:cNvSpPr/>
          <p:nvPr/>
        </p:nvSpPr>
        <p:spPr>
          <a:xfrm>
            <a:off x="2339925" y="4612614"/>
            <a:ext cx="5835121" cy="1339138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84853855-9D05-7375-95AC-A9D599DFE1EB}"/>
              </a:ext>
            </a:extLst>
          </p:cNvPr>
          <p:cNvSpPr/>
          <p:nvPr/>
        </p:nvSpPr>
        <p:spPr>
          <a:xfrm>
            <a:off x="2522806" y="4777204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26C727BA-1224-A62E-4AF7-97BB479861E4}"/>
              </a:ext>
            </a:extLst>
          </p:cNvPr>
          <p:cNvSpPr/>
          <p:nvPr/>
        </p:nvSpPr>
        <p:spPr>
          <a:xfrm>
            <a:off x="2687398" y="4777204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2AA425F3-4B18-852A-D579-947DA0E110E3}"/>
              </a:ext>
            </a:extLst>
          </p:cNvPr>
          <p:cNvSpPr/>
          <p:nvPr/>
        </p:nvSpPr>
        <p:spPr>
          <a:xfrm>
            <a:off x="2851990" y="4777204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F3F4F845-6338-4B67-16E5-CAB7A5022267}"/>
              </a:ext>
            </a:extLst>
          </p:cNvPr>
          <p:cNvSpPr/>
          <p:nvPr/>
        </p:nvSpPr>
        <p:spPr>
          <a:xfrm>
            <a:off x="2595958" y="5088099"/>
            <a:ext cx="5292680" cy="61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[-1]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61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AC8F4C-5BDE-9ECC-1492-ED4A467070EA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B09DB0-8EFF-D8EE-4599-47E9511BCB0A}"/>
              </a:ext>
            </a:extLst>
          </p:cNvPr>
          <p:cNvSpPr txBox="1"/>
          <p:nvPr/>
        </p:nvSpPr>
        <p:spPr>
          <a:xfrm>
            <a:off x="972519" y="1498323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will this print?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8BD5D22-40D9-0100-4029-ED7C6431A3BD}"/>
              </a:ext>
            </a:extLst>
          </p:cNvPr>
          <p:cNvSpPr/>
          <p:nvPr/>
        </p:nvSpPr>
        <p:spPr>
          <a:xfrm>
            <a:off x="2522806" y="2089862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5A516CC-33EA-B678-54B0-338816B60BED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5AD6D452-CB48-40F5-5C54-F82FDC7588F4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AD3DF59-1F20-D3EC-4331-6294C7CA149B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C87FDB52-973C-9FDF-92E0-75519DB2DE13}"/>
              </a:ext>
            </a:extLst>
          </p:cNvPr>
          <p:cNvSpPr/>
          <p:nvPr/>
        </p:nvSpPr>
        <p:spPr>
          <a:xfrm>
            <a:off x="2778839" y="2565346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40, 50]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print(numbers[-3])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2212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24227-232E-C51D-2798-6F7CAE0F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22A01A-F008-0526-179B-43D841644F91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59A578-123F-B887-7553-BA7E3B28C554}"/>
              </a:ext>
            </a:extLst>
          </p:cNvPr>
          <p:cNvSpPr txBox="1"/>
          <p:nvPr/>
        </p:nvSpPr>
        <p:spPr>
          <a:xfrm>
            <a:off x="972519" y="1498323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will this print?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A0B865E0-DB35-8A1B-274A-9BD3F18DA135}"/>
              </a:ext>
            </a:extLst>
          </p:cNvPr>
          <p:cNvSpPr/>
          <p:nvPr/>
        </p:nvSpPr>
        <p:spPr>
          <a:xfrm>
            <a:off x="2522806" y="2089862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15FABE9-9C54-0F89-A297-39E552355838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DC12AEE-DD3A-0C6B-FEC6-9BD01D2AEE12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EF6147E6-5387-28BD-674B-A279D302D3BF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1518AD9C-BE5E-4CBC-8266-4048E6770480}"/>
              </a:ext>
            </a:extLst>
          </p:cNvPr>
          <p:cNvSpPr/>
          <p:nvPr/>
        </p:nvSpPr>
        <p:spPr>
          <a:xfrm>
            <a:off x="2778839" y="2565346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40, 50]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print(numbers[-3])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F313E1-EAFD-3D6E-6F7D-7C1F28228F35}"/>
              </a:ext>
            </a:extLst>
          </p:cNvPr>
          <p:cNvSpPr txBox="1"/>
          <p:nvPr/>
        </p:nvSpPr>
        <p:spPr>
          <a:xfrm>
            <a:off x="3807120" y="535967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30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42961D0A-F742-53F5-E9AF-195BB0F1E98F}"/>
              </a:ext>
            </a:extLst>
          </p:cNvPr>
          <p:cNvSpPr/>
          <p:nvPr/>
        </p:nvSpPr>
        <p:spPr>
          <a:xfrm rot="5400000">
            <a:off x="4969289" y="445205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9753333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7B60E1-9DA8-3251-6121-100A4B5F07FB}"/>
              </a:ext>
            </a:extLst>
          </p:cNvPr>
          <p:cNvSpPr txBox="1"/>
          <p:nvPr/>
        </p:nvSpPr>
        <p:spPr>
          <a:xfrm>
            <a:off x="1265500" y="200722"/>
            <a:ext cx="10684151" cy="111985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How Many Items Are in a List? — </a:t>
            </a:r>
            <a:r>
              <a:rPr lang="en-US" sz="52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len</a:t>
            </a:r>
            <a:r>
              <a:rPr lang="en-US" sz="5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964275-A067-4D36-EB85-76EA03ADF968}"/>
              </a:ext>
            </a:extLst>
          </p:cNvPr>
          <p:cNvSpPr txBox="1"/>
          <p:nvPr/>
        </p:nvSpPr>
        <p:spPr>
          <a:xfrm>
            <a:off x="1539814" y="1775510"/>
            <a:ext cx="9469211" cy="865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The built-in </a:t>
            </a:r>
            <a:r>
              <a:rPr lang="en-US" sz="2400" b="1" kern="1200" dirty="0" err="1">
                <a:solidFill>
                  <a:schemeClr val="tx2"/>
                </a:solidFill>
                <a:latin typeface="+mn-lt"/>
                <a:ea typeface="+mn-ea"/>
                <a:cs typeface="+mn-cs"/>
              </a:rPr>
              <a:t>len</a:t>
            </a:r>
            <a:r>
              <a:rPr lang="en-US" sz="24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 function returns the number of items in a list.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Shape 4">
            <a:extLst>
              <a:ext uri="{FF2B5EF4-FFF2-40B4-BE49-F238E27FC236}">
                <a16:creationId xmlns:a16="http://schemas.microsoft.com/office/drawing/2014/main" id="{522AECAE-EBE1-5E70-32F4-40F1FC6A5FC7}"/>
              </a:ext>
            </a:extLst>
          </p:cNvPr>
          <p:cNvSpPr/>
          <p:nvPr/>
        </p:nvSpPr>
        <p:spPr>
          <a:xfrm>
            <a:off x="3178439" y="2498412"/>
            <a:ext cx="706594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E1128298-4692-51FA-DB6D-706EB08AA003}"/>
              </a:ext>
            </a:extLst>
          </p:cNvPr>
          <p:cNvSpPr/>
          <p:nvPr/>
        </p:nvSpPr>
        <p:spPr>
          <a:xfrm>
            <a:off x="3361320" y="266300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5F51683F-49C0-60B3-5C82-B01586E2AB00}"/>
              </a:ext>
            </a:extLst>
          </p:cNvPr>
          <p:cNvSpPr/>
          <p:nvPr/>
        </p:nvSpPr>
        <p:spPr>
          <a:xfrm>
            <a:off x="3525912" y="266300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DF4CFDB-82EC-E3EE-2720-5A8738F6168B}"/>
              </a:ext>
            </a:extLst>
          </p:cNvPr>
          <p:cNvSpPr/>
          <p:nvPr/>
        </p:nvSpPr>
        <p:spPr>
          <a:xfrm>
            <a:off x="3690504" y="266300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D93092CB-EEDB-3329-1F8F-E63AB6E12C40}"/>
              </a:ext>
            </a:extLst>
          </p:cNvPr>
          <p:cNvSpPr/>
          <p:nvPr/>
        </p:nvSpPr>
        <p:spPr>
          <a:xfrm>
            <a:off x="3434472" y="2973896"/>
            <a:ext cx="6576218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 = ["red", "green", "blue", "yellow"]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</a:t>
            </a:r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len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(colors))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C57A7E2-7CD1-F387-E9E5-E5DA4AEC5A2E}"/>
              </a:ext>
            </a:extLst>
          </p:cNvPr>
          <p:cNvSpPr txBox="1"/>
          <p:nvPr/>
        </p:nvSpPr>
        <p:spPr>
          <a:xfrm>
            <a:off x="4462753" y="576822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4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45" name="Striped Right Arrow 12">
            <a:extLst>
              <a:ext uri="{FF2B5EF4-FFF2-40B4-BE49-F238E27FC236}">
                <a16:creationId xmlns:a16="http://schemas.microsoft.com/office/drawing/2014/main" id="{A8B874B3-F181-C060-847A-D85D2861FA3E}"/>
              </a:ext>
            </a:extLst>
          </p:cNvPr>
          <p:cNvSpPr/>
          <p:nvPr/>
        </p:nvSpPr>
        <p:spPr>
          <a:xfrm rot="5400000">
            <a:off x="5624922" y="486060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AF0CDD-5C00-1E7A-033D-EEBEC2A5B6C0}"/>
              </a:ext>
            </a:extLst>
          </p:cNvPr>
          <p:cNvSpPr txBox="1"/>
          <p:nvPr/>
        </p:nvSpPr>
        <p:spPr>
          <a:xfrm>
            <a:off x="215583" y="5748669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Length = number of items</a:t>
            </a:r>
            <a:br>
              <a:rPr lang="en-US" sz="2000" dirty="0"/>
            </a:br>
            <a:r>
              <a:rPr lang="en-US" sz="2000" b="1" dirty="0"/>
              <a:t>Last positive index = length − 1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52480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F26E5-889E-AC0F-275B-F7ED1ABB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D355D9-51D4-A25B-EB1E-C5FC895B0AC6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90ADA-A46F-BE68-0C28-62DC8B99553C}"/>
              </a:ext>
            </a:extLst>
          </p:cNvPr>
          <p:cNvSpPr txBox="1"/>
          <p:nvPr/>
        </p:nvSpPr>
        <p:spPr>
          <a:xfrm>
            <a:off x="972519" y="1498323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will this print?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33ACDCE-3C3C-7F5C-6993-D3177CB1B82A}"/>
              </a:ext>
            </a:extLst>
          </p:cNvPr>
          <p:cNvSpPr/>
          <p:nvPr/>
        </p:nvSpPr>
        <p:spPr>
          <a:xfrm>
            <a:off x="2522806" y="2089862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844EDC12-03DA-74B7-9BD8-DE583581D588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5C48FDC0-174C-199D-9610-2CADEB62E99D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3A398EB7-F06C-F505-F449-AD74280961E1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3A626688-8804-78C6-5E25-FDD0444D6151}"/>
              </a:ext>
            </a:extLst>
          </p:cNvPr>
          <p:cNvSpPr/>
          <p:nvPr/>
        </p:nvSpPr>
        <p:spPr>
          <a:xfrm>
            <a:off x="2778839" y="2565346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[75, 82, 91, 68, 88, 95]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len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(scores))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9B395169-6456-6731-AD7A-23CA37D86E18}"/>
              </a:ext>
            </a:extLst>
          </p:cNvPr>
          <p:cNvSpPr/>
          <p:nvPr/>
        </p:nvSpPr>
        <p:spPr>
          <a:xfrm rot="5400000">
            <a:off x="5220500" y="4443891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A9344-2185-78AA-8F46-39AE1EA60DA2}"/>
              </a:ext>
            </a:extLst>
          </p:cNvPr>
          <p:cNvSpPr txBox="1"/>
          <p:nvPr/>
        </p:nvSpPr>
        <p:spPr>
          <a:xfrm>
            <a:off x="2609241" y="5366112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What is the output?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2DB3C-AF29-929B-3FA8-B0ACC1C5384D}"/>
              </a:ext>
            </a:extLst>
          </p:cNvPr>
          <p:cNvSpPr txBox="1"/>
          <p:nvPr/>
        </p:nvSpPr>
        <p:spPr>
          <a:xfrm>
            <a:off x="2705687" y="5997468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What is the index of the last item?</a:t>
            </a:r>
          </a:p>
        </p:txBody>
      </p:sp>
    </p:spTree>
    <p:extLst>
      <p:ext uri="{BB962C8B-B14F-4D97-AF65-F5344CB8AC3E}">
        <p14:creationId xmlns:p14="http://schemas.microsoft.com/office/powerpoint/2010/main" val="2194178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2FF24-2C55-B03E-E77B-CC85C610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F05B3F-6FBB-4A4A-1DB0-38952A88D595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4FAA6E-8B14-82F0-211A-452790997BB6}"/>
              </a:ext>
            </a:extLst>
          </p:cNvPr>
          <p:cNvSpPr txBox="1"/>
          <p:nvPr/>
        </p:nvSpPr>
        <p:spPr>
          <a:xfrm>
            <a:off x="972519" y="1498323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will this print?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8FC87BA-CEC1-8D30-3096-53493DB4C764}"/>
              </a:ext>
            </a:extLst>
          </p:cNvPr>
          <p:cNvSpPr/>
          <p:nvPr/>
        </p:nvSpPr>
        <p:spPr>
          <a:xfrm>
            <a:off x="2522806" y="2089862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13BF2607-7E47-9B7A-0EC1-B64C11D9BBCE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4CBC552-C102-A7AE-A9C8-F09E4E64D589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689CF454-95C0-7B49-00BD-52BFE7FBDE03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4A2736BF-B396-CF34-67F3-1E4C53FC8046}"/>
              </a:ext>
            </a:extLst>
          </p:cNvPr>
          <p:cNvSpPr/>
          <p:nvPr/>
        </p:nvSpPr>
        <p:spPr>
          <a:xfrm>
            <a:off x="2778839" y="2565346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[75, 82, 91, 68, 88, 95]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len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(scores))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E48BE-2434-B784-DC25-CDCED8CE096B}"/>
              </a:ext>
            </a:extLst>
          </p:cNvPr>
          <p:cNvSpPr txBox="1"/>
          <p:nvPr/>
        </p:nvSpPr>
        <p:spPr>
          <a:xfrm>
            <a:off x="3807120" y="535967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6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704C8A0D-FE0D-DE4C-7DBF-50D9B46AA249}"/>
              </a:ext>
            </a:extLst>
          </p:cNvPr>
          <p:cNvSpPr/>
          <p:nvPr/>
        </p:nvSpPr>
        <p:spPr>
          <a:xfrm rot="5400000">
            <a:off x="4969289" y="445205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4F7BB6-73C2-C934-C501-44F73503214C}"/>
              </a:ext>
            </a:extLst>
          </p:cNvPr>
          <p:cNvSpPr txBox="1"/>
          <p:nvPr/>
        </p:nvSpPr>
        <p:spPr>
          <a:xfrm>
            <a:off x="2522806" y="6044448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index of the last item is 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944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ED11C5-DFEE-356B-DCA0-0AF4900251BD}"/>
              </a:ext>
            </a:extLst>
          </p:cNvPr>
          <p:cNvSpPr txBox="1"/>
          <p:nvPr/>
        </p:nvSpPr>
        <p:spPr>
          <a:xfrm>
            <a:off x="3046709" y="412019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Getting Part of a List — Slicing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2CF081-1F9A-474F-4935-F9D37BE2B818}"/>
              </a:ext>
            </a:extLst>
          </p:cNvPr>
          <p:cNvSpPr txBox="1"/>
          <p:nvPr/>
        </p:nvSpPr>
        <p:spPr>
          <a:xfrm>
            <a:off x="511444" y="1193369"/>
            <a:ext cx="111742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Sometimes we do not need just </a:t>
            </a:r>
            <a:r>
              <a:rPr lang="en-US" sz="2000" b="1" dirty="0"/>
              <a:t>one item</a:t>
            </a:r>
            <a:r>
              <a:rPr lang="en-US" sz="2000" dirty="0"/>
              <a:t>. We want to get </a:t>
            </a:r>
            <a:r>
              <a:rPr lang="en-US" sz="2000" b="1" dirty="0"/>
              <a:t>several items</a:t>
            </a:r>
            <a:r>
              <a:rPr lang="en-US" sz="2000" dirty="0"/>
              <a:t> from a list.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06A62DC-B508-FA74-54F1-12242BC993EE}"/>
              </a:ext>
            </a:extLst>
          </p:cNvPr>
          <p:cNvSpPr/>
          <p:nvPr/>
        </p:nvSpPr>
        <p:spPr>
          <a:xfrm>
            <a:off x="2522806" y="2089862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C762167-1C1A-682A-8353-A9D7EBC63ADE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0A03FA5-205E-0E8C-F3F1-8BFD21125FC8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C82F480A-23D4-7224-DEFD-FA66C5D2E2B5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BCB9588A-B245-5EF1-0747-592994705CBA}"/>
              </a:ext>
            </a:extLst>
          </p:cNvPr>
          <p:cNvSpPr/>
          <p:nvPr/>
        </p:nvSpPr>
        <p:spPr>
          <a:xfrm>
            <a:off x="2778839" y="2565346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40, 50, 60]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A77776-2355-753D-BC75-59BF8E62C153}"/>
              </a:ext>
            </a:extLst>
          </p:cNvPr>
          <p:cNvSpPr txBox="1"/>
          <p:nvPr/>
        </p:nvSpPr>
        <p:spPr>
          <a:xfrm>
            <a:off x="511444" y="4255053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Use a </a:t>
            </a:r>
            <a:r>
              <a:rPr lang="en-US" sz="2000" b="1" dirty="0"/>
              <a:t>slice</a:t>
            </a:r>
            <a:r>
              <a:rPr lang="en-US" sz="2000" dirty="0"/>
              <a:t>:</a:t>
            </a: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587BF646-A30C-092F-23E6-989F918595A0}"/>
              </a:ext>
            </a:extLst>
          </p:cNvPr>
          <p:cNvSpPr/>
          <p:nvPr/>
        </p:nvSpPr>
        <p:spPr>
          <a:xfrm>
            <a:off x="2522806" y="4608668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E666A9DE-0A2E-1C44-F473-B07685DB1B81}"/>
              </a:ext>
            </a:extLst>
          </p:cNvPr>
          <p:cNvSpPr/>
          <p:nvPr/>
        </p:nvSpPr>
        <p:spPr>
          <a:xfrm>
            <a:off x="2705687" y="4773258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7DECCB6F-63EA-551C-8370-990A991B1985}"/>
              </a:ext>
            </a:extLst>
          </p:cNvPr>
          <p:cNvSpPr/>
          <p:nvPr/>
        </p:nvSpPr>
        <p:spPr>
          <a:xfrm>
            <a:off x="2870279" y="4773258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57D0A673-F8D4-0211-6D43-B89E743E61D4}"/>
              </a:ext>
            </a:extLst>
          </p:cNvPr>
          <p:cNvSpPr/>
          <p:nvPr/>
        </p:nvSpPr>
        <p:spPr>
          <a:xfrm>
            <a:off x="3034871" y="4773258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48B5C3E8-716E-108C-53E7-E30A52327DE6}"/>
              </a:ext>
            </a:extLst>
          </p:cNvPr>
          <p:cNvSpPr/>
          <p:nvPr/>
        </p:nvSpPr>
        <p:spPr>
          <a:xfrm>
            <a:off x="2778839" y="5084152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numbers[1:4]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285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6332378-38BA-EAF2-3C68-F89AB6762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787" y="520484"/>
            <a:ext cx="7470183" cy="37350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94F097-D34F-3ADC-3DC3-0D8ECF04A87D}"/>
              </a:ext>
            </a:extLst>
          </p:cNvPr>
          <p:cNvSpPr txBox="1"/>
          <p:nvPr/>
        </p:nvSpPr>
        <p:spPr>
          <a:xfrm>
            <a:off x="724546" y="5248475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start</a:t>
            </a:r>
            <a:r>
              <a:rPr lang="en-US" sz="2000" dirty="0"/>
              <a:t> → </a:t>
            </a:r>
            <a:r>
              <a:rPr lang="en-US" sz="2000" b="1" dirty="0"/>
              <a:t>included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stop</a:t>
            </a:r>
            <a:r>
              <a:rPr lang="en-US" sz="2000" dirty="0"/>
              <a:t> → </a:t>
            </a:r>
            <a:r>
              <a:rPr lang="en-US" sz="2000" b="1" dirty="0"/>
              <a:t>not included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5772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C86F-408D-231A-C6DD-D2435480A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E83587-4DB8-8FAF-498E-C47C0FC69A19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A095F0-345E-C07C-FD1D-C63F86A6339C}"/>
              </a:ext>
            </a:extLst>
          </p:cNvPr>
          <p:cNvSpPr txBox="1"/>
          <p:nvPr/>
        </p:nvSpPr>
        <p:spPr>
          <a:xfrm>
            <a:off x="972519" y="1498323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will this print?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5B1A684-CF7F-F395-45DB-861B326BE388}"/>
              </a:ext>
            </a:extLst>
          </p:cNvPr>
          <p:cNvSpPr/>
          <p:nvPr/>
        </p:nvSpPr>
        <p:spPr>
          <a:xfrm>
            <a:off x="2522806" y="2089862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747FCEA-18AB-3CE1-3BD5-37C5B42FB2E3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B76F6775-994C-B62A-9273-F76469426314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DFD190DA-EF3B-0DF7-8788-197C98593029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26C78F0-12B5-CACD-5FA0-B459D9ECF3DF}"/>
              </a:ext>
            </a:extLst>
          </p:cNvPr>
          <p:cNvSpPr/>
          <p:nvPr/>
        </p:nvSpPr>
        <p:spPr>
          <a:xfrm>
            <a:off x="2778839" y="2565346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letters = ["A", "B", "C", "D", "E"]</a:t>
            </a:r>
          </a:p>
          <a:p>
            <a:endParaRPr lang="nb-NO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print(letters[1:3])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44D44969-B220-697B-DC7F-78E6DE963748}"/>
              </a:ext>
            </a:extLst>
          </p:cNvPr>
          <p:cNvSpPr/>
          <p:nvPr/>
        </p:nvSpPr>
        <p:spPr>
          <a:xfrm rot="5400000">
            <a:off x="4969289" y="445205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98713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E4A5-9955-9A4F-F4CD-7F2269FD8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4FDF33-CD98-7052-7509-374DB05A3D11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B9F8AB4-562D-AF16-F5E9-FC3CAA3652D8}"/>
              </a:ext>
            </a:extLst>
          </p:cNvPr>
          <p:cNvSpPr/>
          <p:nvPr/>
        </p:nvSpPr>
        <p:spPr>
          <a:xfrm>
            <a:off x="2522806" y="2089862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05042527-C296-EF70-9FC7-4B8B71E755BE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EAEAAC90-ACAE-060C-4151-52F1A97A74F1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17374709-4966-01AC-C97F-22B1EC986438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4DA0BA8C-66A2-90DF-6712-10778584C725}"/>
              </a:ext>
            </a:extLst>
          </p:cNvPr>
          <p:cNvSpPr/>
          <p:nvPr/>
        </p:nvSpPr>
        <p:spPr>
          <a:xfrm>
            <a:off x="2778839" y="2565346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letters = ["A", "B", "C", "D", "E"]</a:t>
            </a:r>
          </a:p>
          <a:p>
            <a:endParaRPr lang="nb-NO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print(letters[1:3])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5F6028-A2C7-7EC9-2B93-B3050D1C7FFB}"/>
              </a:ext>
            </a:extLst>
          </p:cNvPr>
          <p:cNvSpPr txBox="1"/>
          <p:nvPr/>
        </p:nvSpPr>
        <p:spPr>
          <a:xfrm>
            <a:off x="3807120" y="535967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</a:t>
            </a:r>
            <a:r>
              <a:rPr lang="en-US" sz="2000" dirty="0">
                <a:solidFill>
                  <a:schemeClr val="bg1"/>
                </a:solidFill>
              </a:rPr>
              <a:t>“</a:t>
            </a:r>
            <a:r>
              <a:rPr lang="en-ES" sz="2000" dirty="0">
                <a:solidFill>
                  <a:schemeClr val="bg1"/>
                </a:solidFill>
              </a:rPr>
              <a:t>B</a:t>
            </a:r>
            <a:r>
              <a:rPr lang="en-US" sz="2000" dirty="0">
                <a:solidFill>
                  <a:schemeClr val="bg1"/>
                </a:solidFill>
              </a:rPr>
              <a:t>”,</a:t>
            </a:r>
            <a:r>
              <a:rPr lang="en-ES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“</a:t>
            </a:r>
            <a:r>
              <a:rPr lang="en-ES" sz="2000" dirty="0">
                <a:solidFill>
                  <a:schemeClr val="bg1"/>
                </a:solidFill>
              </a:rPr>
              <a:t>C</a:t>
            </a:r>
            <a:r>
              <a:rPr lang="en-US" sz="2000" dirty="0">
                <a:solidFill>
                  <a:schemeClr val="bg1"/>
                </a:solidFill>
              </a:rPr>
              <a:t>”</a:t>
            </a:r>
            <a:r>
              <a:rPr lang="en-ES" sz="2000" dirty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4F740A7C-FE09-E219-3C78-D0E1E157947E}"/>
              </a:ext>
            </a:extLst>
          </p:cNvPr>
          <p:cNvSpPr/>
          <p:nvPr/>
        </p:nvSpPr>
        <p:spPr>
          <a:xfrm rot="5400000">
            <a:off x="4969289" y="445205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73939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A9ECA9-8F1D-355C-2902-69B40DDDCD12}"/>
              </a:ext>
            </a:extLst>
          </p:cNvPr>
          <p:cNvSpPr txBox="1"/>
          <p:nvPr/>
        </p:nvSpPr>
        <p:spPr>
          <a:xfrm>
            <a:off x="3046709" y="303530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Slicing Shortcuts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30A92E73-E8B6-9AAC-579C-DCA28E266DCB}"/>
              </a:ext>
            </a:extLst>
          </p:cNvPr>
          <p:cNvSpPr/>
          <p:nvPr/>
        </p:nvSpPr>
        <p:spPr>
          <a:xfrm>
            <a:off x="290594" y="2089862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A98EA88-6C5C-96E0-AF6B-5B00A3615371}"/>
              </a:ext>
            </a:extLst>
          </p:cNvPr>
          <p:cNvSpPr/>
          <p:nvPr/>
        </p:nvSpPr>
        <p:spPr>
          <a:xfrm>
            <a:off x="473475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13DC397D-0302-0DF1-96EF-C8E69A27B3A7}"/>
              </a:ext>
            </a:extLst>
          </p:cNvPr>
          <p:cNvSpPr/>
          <p:nvPr/>
        </p:nvSpPr>
        <p:spPr>
          <a:xfrm>
            <a:off x="638067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2BE3569-C4FF-E1DF-67F5-DBC43CF03D91}"/>
              </a:ext>
            </a:extLst>
          </p:cNvPr>
          <p:cNvSpPr/>
          <p:nvPr/>
        </p:nvSpPr>
        <p:spPr>
          <a:xfrm>
            <a:off x="802659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BB1A817-9ECF-5723-7F3E-699601581A23}"/>
              </a:ext>
            </a:extLst>
          </p:cNvPr>
          <p:cNvSpPr/>
          <p:nvPr/>
        </p:nvSpPr>
        <p:spPr>
          <a:xfrm>
            <a:off x="546627" y="2565346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40, 50, 60]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print(numbers[ :3])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D3B576-0D9A-CEE1-49D1-0136AFDE9DAE}"/>
              </a:ext>
            </a:extLst>
          </p:cNvPr>
          <p:cNvSpPr txBox="1"/>
          <p:nvPr/>
        </p:nvSpPr>
        <p:spPr>
          <a:xfrm>
            <a:off x="290594" y="1152435"/>
            <a:ext cx="58054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When slicing a list, we can leave out the </a:t>
            </a:r>
            <a:r>
              <a:rPr lang="en-US" sz="2000" b="1" dirty="0"/>
              <a:t>start</a:t>
            </a:r>
            <a:r>
              <a:rPr lang="en-US" sz="2000" dirty="0"/>
              <a:t> or </a:t>
            </a:r>
            <a:r>
              <a:rPr lang="en-US" sz="2000" b="1" dirty="0"/>
              <a:t>stop</a:t>
            </a:r>
            <a:r>
              <a:rPr lang="en-US" sz="2000" dirty="0"/>
              <a:t> index.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EC955A-F528-7FC0-0743-2572303D9156}"/>
              </a:ext>
            </a:extLst>
          </p:cNvPr>
          <p:cNvSpPr txBox="1"/>
          <p:nvPr/>
        </p:nvSpPr>
        <p:spPr>
          <a:xfrm>
            <a:off x="1574908" y="535967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[10, 20, 30]</a:t>
            </a:r>
          </a:p>
        </p:txBody>
      </p:sp>
      <p:sp>
        <p:nvSpPr>
          <p:cNvPr id="19" name="Striped Right Arrow 12">
            <a:extLst>
              <a:ext uri="{FF2B5EF4-FFF2-40B4-BE49-F238E27FC236}">
                <a16:creationId xmlns:a16="http://schemas.microsoft.com/office/drawing/2014/main" id="{A7EF5A9C-242A-95F4-068F-14C872B2FBF8}"/>
              </a:ext>
            </a:extLst>
          </p:cNvPr>
          <p:cNvSpPr/>
          <p:nvPr/>
        </p:nvSpPr>
        <p:spPr>
          <a:xfrm rot="5400000">
            <a:off x="2737077" y="445205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A1008DA4-4667-A248-9C06-10ABB0625B7F}"/>
              </a:ext>
            </a:extLst>
          </p:cNvPr>
          <p:cNvSpPr/>
          <p:nvPr/>
        </p:nvSpPr>
        <p:spPr>
          <a:xfrm>
            <a:off x="6308596" y="2099863"/>
            <a:ext cx="5835121" cy="169172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B5D2EFC6-3C98-3157-3AAE-6494392A3C43}"/>
              </a:ext>
            </a:extLst>
          </p:cNvPr>
          <p:cNvSpPr/>
          <p:nvPr/>
        </p:nvSpPr>
        <p:spPr>
          <a:xfrm>
            <a:off x="6491477" y="2264453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E1FC4CC7-F14E-B1D7-DCB5-34849A68487B}"/>
              </a:ext>
            </a:extLst>
          </p:cNvPr>
          <p:cNvSpPr/>
          <p:nvPr/>
        </p:nvSpPr>
        <p:spPr>
          <a:xfrm>
            <a:off x="6656069" y="2264453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CC65224A-6793-2D7D-99F2-F422A936715A}"/>
              </a:ext>
            </a:extLst>
          </p:cNvPr>
          <p:cNvSpPr/>
          <p:nvPr/>
        </p:nvSpPr>
        <p:spPr>
          <a:xfrm>
            <a:off x="6820661" y="2264453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DB1018D7-DAD7-CEAE-66DC-68BBFF35A67C}"/>
              </a:ext>
            </a:extLst>
          </p:cNvPr>
          <p:cNvSpPr/>
          <p:nvPr/>
        </p:nvSpPr>
        <p:spPr>
          <a:xfrm>
            <a:off x="6564629" y="2575347"/>
            <a:ext cx="5292680" cy="102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40, 50, 60]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print(numbers[3: ])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EE3C27-52A5-3477-A28B-468236EC659B}"/>
              </a:ext>
            </a:extLst>
          </p:cNvPr>
          <p:cNvSpPr txBox="1"/>
          <p:nvPr/>
        </p:nvSpPr>
        <p:spPr>
          <a:xfrm>
            <a:off x="7592910" y="5369678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[40, 50, 60]</a:t>
            </a:r>
          </a:p>
        </p:txBody>
      </p:sp>
      <p:sp>
        <p:nvSpPr>
          <p:cNvPr id="33" name="Striped Right Arrow 12">
            <a:extLst>
              <a:ext uri="{FF2B5EF4-FFF2-40B4-BE49-F238E27FC236}">
                <a16:creationId xmlns:a16="http://schemas.microsoft.com/office/drawing/2014/main" id="{9C4533B0-AFBF-83D8-E96F-18FC770EC447}"/>
              </a:ext>
            </a:extLst>
          </p:cNvPr>
          <p:cNvSpPr/>
          <p:nvPr/>
        </p:nvSpPr>
        <p:spPr>
          <a:xfrm rot="5400000">
            <a:off x="8755079" y="4462059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00FA42-A297-43F3-149F-FE34005DC7F7}"/>
              </a:ext>
            </a:extLst>
          </p:cNvPr>
          <p:cNvSpPr txBox="1"/>
          <p:nvPr/>
        </p:nvSpPr>
        <p:spPr>
          <a:xfrm>
            <a:off x="6348886" y="1152435"/>
            <a:ext cx="5592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If we omit </a:t>
            </a:r>
            <a:r>
              <a:rPr lang="en-US" sz="2000" dirty="0">
                <a:latin typeface="+mn-lt"/>
              </a:rPr>
              <a:t>stop</a:t>
            </a:r>
            <a:r>
              <a:rPr lang="en-US" sz="2000" dirty="0"/>
              <a:t>, Python continues to the </a:t>
            </a:r>
            <a:r>
              <a:rPr lang="en-US" sz="2000" b="1" dirty="0"/>
              <a:t>end</a:t>
            </a:r>
            <a:r>
              <a:rPr lang="en-US" sz="2000" dirty="0"/>
              <a:t>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33C66E-96C0-48EF-C42C-35ADF8349F8C}"/>
              </a:ext>
            </a:extLst>
          </p:cNvPr>
          <p:cNvSpPr txBox="1"/>
          <p:nvPr/>
        </p:nvSpPr>
        <p:spPr>
          <a:xfrm>
            <a:off x="4775309" y="5795248"/>
            <a:ext cx="30358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+mn-lt"/>
              </a:rPr>
              <a:t>[ :stop]</a:t>
            </a:r>
            <a:r>
              <a:rPr lang="en-US" dirty="0"/>
              <a:t> → from the </a:t>
            </a:r>
            <a:r>
              <a:rPr lang="en-US" b="1" dirty="0"/>
              <a:t>beginning</a:t>
            </a:r>
            <a:br>
              <a:rPr lang="en-US" dirty="0"/>
            </a:br>
            <a:r>
              <a:rPr lang="en-US" dirty="0">
                <a:latin typeface="+mn-lt"/>
              </a:rPr>
              <a:t>[start: ]</a:t>
            </a:r>
            <a:r>
              <a:rPr lang="en-US" dirty="0"/>
              <a:t> → to the </a:t>
            </a:r>
            <a:r>
              <a:rPr lang="en-US" b="1" dirty="0"/>
              <a:t>end</a:t>
            </a:r>
            <a:br>
              <a:rPr lang="en-US" dirty="0"/>
            </a:br>
            <a:r>
              <a:rPr lang="en-US" dirty="0">
                <a:latin typeface="+mn-lt"/>
              </a:rPr>
              <a:t>[ : ]</a:t>
            </a:r>
            <a:r>
              <a:rPr lang="en-US" dirty="0"/>
              <a:t> → the </a:t>
            </a:r>
            <a:r>
              <a:rPr lang="en-US" b="1" dirty="0"/>
              <a:t>whole 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6690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59979-AE97-FDD9-13A5-C9BA47F17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26FB66-5E7C-36BD-8CCB-4DF376007954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B70528E-D26C-D69B-454C-A5B088CAD4C7}"/>
              </a:ext>
            </a:extLst>
          </p:cNvPr>
          <p:cNvSpPr/>
          <p:nvPr/>
        </p:nvSpPr>
        <p:spPr>
          <a:xfrm>
            <a:off x="2522806" y="2089861"/>
            <a:ext cx="5835121" cy="195699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8C841237-A38A-7782-F233-758FA90E8C62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4FB9D3D-EA89-73C5-05E4-F974DAB71852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AB119F05-9B97-CDFB-BA5F-D5D27F744C0F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0ECCF3E-EA05-CD86-DD2F-A0CD5901BE16}"/>
              </a:ext>
            </a:extLst>
          </p:cNvPr>
          <p:cNvSpPr/>
          <p:nvPr/>
        </p:nvSpPr>
        <p:spPr>
          <a:xfrm>
            <a:off x="2778838" y="2565346"/>
            <a:ext cx="5435263" cy="13808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letters = ["A", "B", "C", "D", "E"]</a:t>
            </a:r>
          </a:p>
          <a:p>
            <a:endParaRPr lang="nb-NO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print(letters[:2])</a:t>
            </a:r>
          </a:p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print(letters[2:])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0BA105-CB00-FE0C-CCFA-0808B8D5F0B8}"/>
              </a:ext>
            </a:extLst>
          </p:cNvPr>
          <p:cNvSpPr txBox="1"/>
          <p:nvPr/>
        </p:nvSpPr>
        <p:spPr>
          <a:xfrm>
            <a:off x="3807120" y="535967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C71BFE7C-CAC7-34EE-9CBE-067B9CDD27B3}"/>
              </a:ext>
            </a:extLst>
          </p:cNvPr>
          <p:cNvSpPr/>
          <p:nvPr/>
        </p:nvSpPr>
        <p:spPr>
          <a:xfrm rot="5400000">
            <a:off x="4969289" y="445205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363444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0FA49-077B-7F22-2A08-465AD274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B46943-5EDB-7999-CFC9-73EE59F0DAE8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CCB28BA-570E-0E4D-BB7A-F632091B8F09}"/>
              </a:ext>
            </a:extLst>
          </p:cNvPr>
          <p:cNvSpPr/>
          <p:nvPr/>
        </p:nvSpPr>
        <p:spPr>
          <a:xfrm>
            <a:off x="2522806" y="2089861"/>
            <a:ext cx="5835121" cy="195699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8872DE4-8173-4222-0706-5C7F99AD2ABB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1FDC92F2-3E33-A3CE-E826-892B3848F642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8F6F8BFB-092F-C260-B63E-DD7233B28D4E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0945467-6F64-72C1-696B-A79E3BD5913E}"/>
              </a:ext>
            </a:extLst>
          </p:cNvPr>
          <p:cNvSpPr/>
          <p:nvPr/>
        </p:nvSpPr>
        <p:spPr>
          <a:xfrm>
            <a:off x="2778839" y="2565346"/>
            <a:ext cx="5453886" cy="13808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letters = ["A", "B", "C", "D", "E"]</a:t>
            </a:r>
          </a:p>
          <a:p>
            <a:endParaRPr lang="nb-NO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print(letters[:2])</a:t>
            </a:r>
          </a:p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print(letters[2:])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269C5-9964-63CB-963C-9B53B5FD95D2}"/>
              </a:ext>
            </a:extLst>
          </p:cNvPr>
          <p:cNvSpPr txBox="1"/>
          <p:nvPr/>
        </p:nvSpPr>
        <p:spPr>
          <a:xfrm>
            <a:off x="3807120" y="5359677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['A', 'B']</a:t>
            </a:r>
          </a:p>
          <a:p>
            <a:pPr algn="ctr"/>
            <a:r>
              <a:rPr lang="en-ES" sz="2000" dirty="0">
                <a:solidFill>
                  <a:schemeClr val="bg1"/>
                </a:solidFill>
              </a:rPr>
              <a:t>['C', 'D', 'E']</a:t>
            </a: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96E6CC29-1A5D-B044-3767-047B03CFDD30}"/>
              </a:ext>
            </a:extLst>
          </p:cNvPr>
          <p:cNvSpPr/>
          <p:nvPr/>
        </p:nvSpPr>
        <p:spPr>
          <a:xfrm rot="5400000">
            <a:off x="4969289" y="445205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23194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8ECC91-29A0-2E03-C789-65231776205B}"/>
              </a:ext>
            </a:extLst>
          </p:cNvPr>
          <p:cNvSpPr txBox="1"/>
          <p:nvPr/>
        </p:nvSpPr>
        <p:spPr>
          <a:xfrm>
            <a:off x="3046709" y="443015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Going Through a List — Traversal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B7BBA-5A3C-0693-E174-47E7B0810534}"/>
              </a:ext>
            </a:extLst>
          </p:cNvPr>
          <p:cNvSpPr txBox="1"/>
          <p:nvPr/>
        </p:nvSpPr>
        <p:spPr>
          <a:xfrm>
            <a:off x="678051" y="1294108"/>
            <a:ext cx="60985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Often, we want to process </a:t>
            </a:r>
            <a:r>
              <a:rPr lang="en-US" sz="2000" b="1" dirty="0"/>
              <a:t>every item</a:t>
            </a:r>
            <a:r>
              <a:rPr lang="en-US" sz="2000" dirty="0"/>
              <a:t> in a list.</a:t>
            </a:r>
          </a:p>
          <a:p>
            <a:r>
              <a:rPr lang="en-US" sz="2000" dirty="0"/>
              <a:t>This is called </a:t>
            </a:r>
            <a:r>
              <a:rPr lang="en-US" sz="2000" b="1" dirty="0"/>
              <a:t>traversal</a:t>
            </a:r>
            <a:r>
              <a:rPr lang="en-US" sz="2000" dirty="0"/>
              <a:t>.</a:t>
            </a: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670B97E2-CBA3-6315-4C0C-8F50E358BBC8}"/>
              </a:ext>
            </a:extLst>
          </p:cNvPr>
          <p:cNvSpPr/>
          <p:nvPr/>
        </p:nvSpPr>
        <p:spPr>
          <a:xfrm>
            <a:off x="260879" y="2391553"/>
            <a:ext cx="6248409" cy="1359038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DEEC9AC2-7C74-8C92-A9BC-883FC63F8ACD}"/>
              </a:ext>
            </a:extLst>
          </p:cNvPr>
          <p:cNvSpPr/>
          <p:nvPr/>
        </p:nvSpPr>
        <p:spPr>
          <a:xfrm>
            <a:off x="443760" y="2556143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F8E633A0-B48D-6CC3-83D5-D3C8B70A700A}"/>
              </a:ext>
            </a:extLst>
          </p:cNvPr>
          <p:cNvSpPr/>
          <p:nvPr/>
        </p:nvSpPr>
        <p:spPr>
          <a:xfrm>
            <a:off x="608352" y="2556143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4464253B-C4E4-CB35-103D-A217F907189B}"/>
              </a:ext>
            </a:extLst>
          </p:cNvPr>
          <p:cNvSpPr/>
          <p:nvPr/>
        </p:nvSpPr>
        <p:spPr>
          <a:xfrm>
            <a:off x="772944" y="2556143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FCE30770-3F37-19A7-205B-B2CB78604705}"/>
              </a:ext>
            </a:extLst>
          </p:cNvPr>
          <p:cNvSpPr/>
          <p:nvPr/>
        </p:nvSpPr>
        <p:spPr>
          <a:xfrm>
            <a:off x="516912" y="2867037"/>
            <a:ext cx="5835120" cy="71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fruits = ["apple", "banana", "orange"]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BDBDEE-E461-CADA-72B9-F7DBA85EED50}"/>
              </a:ext>
            </a:extLst>
          </p:cNvPr>
          <p:cNvSpPr txBox="1"/>
          <p:nvPr/>
        </p:nvSpPr>
        <p:spPr>
          <a:xfrm>
            <a:off x="733554" y="4055592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We can traverse the list using a </a:t>
            </a:r>
            <a:r>
              <a:rPr lang="en-US" sz="2000" dirty="0">
                <a:latin typeface="+mn-lt"/>
              </a:rPr>
              <a:t>for</a:t>
            </a:r>
            <a:r>
              <a:rPr lang="en-US" sz="2000" dirty="0"/>
              <a:t> loop:</a:t>
            </a:r>
          </a:p>
        </p:txBody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91AB4D79-F7C7-947B-FBAF-07C293C98025}"/>
              </a:ext>
            </a:extLst>
          </p:cNvPr>
          <p:cNvSpPr/>
          <p:nvPr/>
        </p:nvSpPr>
        <p:spPr>
          <a:xfrm>
            <a:off x="256023" y="4729925"/>
            <a:ext cx="6248409" cy="1359038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3" name="Shape 5">
            <a:extLst>
              <a:ext uri="{FF2B5EF4-FFF2-40B4-BE49-F238E27FC236}">
                <a16:creationId xmlns:a16="http://schemas.microsoft.com/office/drawing/2014/main" id="{1CC9EE29-502F-0615-D98A-952010DE9BFE}"/>
              </a:ext>
            </a:extLst>
          </p:cNvPr>
          <p:cNvSpPr/>
          <p:nvPr/>
        </p:nvSpPr>
        <p:spPr>
          <a:xfrm>
            <a:off x="438904" y="489451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2ED827B7-9E91-3122-2362-98B2A2368C7E}"/>
              </a:ext>
            </a:extLst>
          </p:cNvPr>
          <p:cNvSpPr/>
          <p:nvPr/>
        </p:nvSpPr>
        <p:spPr>
          <a:xfrm>
            <a:off x="603496" y="489451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7EDE8974-2FC7-B739-F844-1C07BEC26AB4}"/>
              </a:ext>
            </a:extLst>
          </p:cNvPr>
          <p:cNvSpPr/>
          <p:nvPr/>
        </p:nvSpPr>
        <p:spPr>
          <a:xfrm>
            <a:off x="768088" y="489451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8D2270E2-D6AE-0DCD-022B-C21295B0F16E}"/>
              </a:ext>
            </a:extLst>
          </p:cNvPr>
          <p:cNvSpPr/>
          <p:nvPr/>
        </p:nvSpPr>
        <p:spPr>
          <a:xfrm>
            <a:off x="512056" y="5205409"/>
            <a:ext cx="5835120" cy="7130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fruit in fruits: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print(fruit)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D945E8-676B-9FF9-7848-0310A8B5014D}"/>
              </a:ext>
            </a:extLst>
          </p:cNvPr>
          <p:cNvSpPr txBox="1"/>
          <p:nvPr/>
        </p:nvSpPr>
        <p:spPr>
          <a:xfrm>
            <a:off x="8639314" y="5054112"/>
            <a:ext cx="3200401" cy="101566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apple</a:t>
            </a:r>
          </a:p>
          <a:p>
            <a:pPr algn="ctr"/>
            <a:r>
              <a:rPr lang="en-ES" sz="2000" dirty="0">
                <a:solidFill>
                  <a:schemeClr val="bg1"/>
                </a:solidFill>
              </a:rPr>
              <a:t>banana</a:t>
            </a:r>
          </a:p>
          <a:p>
            <a:pPr algn="ctr"/>
            <a:r>
              <a:rPr lang="en-ES" sz="2000" dirty="0">
                <a:solidFill>
                  <a:schemeClr val="bg1"/>
                </a:solidFill>
              </a:rPr>
              <a:t>orange</a:t>
            </a:r>
          </a:p>
        </p:txBody>
      </p:sp>
      <p:sp>
        <p:nvSpPr>
          <p:cNvPr id="43" name="Striped Right Arrow 12">
            <a:extLst>
              <a:ext uri="{FF2B5EF4-FFF2-40B4-BE49-F238E27FC236}">
                <a16:creationId xmlns:a16="http://schemas.microsoft.com/office/drawing/2014/main" id="{C4BA4C87-FC75-9466-B058-048582934A9A}"/>
              </a:ext>
            </a:extLst>
          </p:cNvPr>
          <p:cNvSpPr/>
          <p:nvPr/>
        </p:nvSpPr>
        <p:spPr>
          <a:xfrm>
            <a:off x="7133841" y="5310733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D5133B-6F0D-EEA1-5B84-7F3B9A728125}"/>
              </a:ext>
            </a:extLst>
          </p:cNvPr>
          <p:cNvSpPr txBox="1"/>
          <p:nvPr/>
        </p:nvSpPr>
        <p:spPr>
          <a:xfrm>
            <a:off x="7133840" y="4055592"/>
            <a:ext cx="50484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variable </a:t>
            </a:r>
            <a:r>
              <a:rPr lang="en-US" sz="2000" dirty="0">
                <a:latin typeface="+mn-lt"/>
              </a:rPr>
              <a:t>fruit</a:t>
            </a:r>
            <a:r>
              <a:rPr lang="en-US" sz="2000" dirty="0"/>
              <a:t> takes </a:t>
            </a:r>
            <a:r>
              <a:rPr lang="en-US" sz="2000" b="1" dirty="0"/>
              <a:t>one item at a time</a:t>
            </a:r>
            <a:r>
              <a:rPr lang="en-US" sz="2000" dirty="0"/>
              <a:t> from the list.</a:t>
            </a:r>
          </a:p>
        </p:txBody>
      </p:sp>
    </p:spTree>
    <p:extLst>
      <p:ext uri="{BB962C8B-B14F-4D97-AF65-F5344CB8AC3E}">
        <p14:creationId xmlns:p14="http://schemas.microsoft.com/office/powerpoint/2010/main" val="2078341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C4165C-AA11-57F9-3598-B6F38E7A69CD}"/>
              </a:ext>
            </a:extLst>
          </p:cNvPr>
          <p:cNvSpPr txBox="1"/>
          <p:nvPr/>
        </p:nvSpPr>
        <p:spPr>
          <a:xfrm>
            <a:off x="3046709" y="659991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Membership Testing with </a:t>
            </a:r>
            <a:r>
              <a:rPr lang="en-US" sz="2800" b="1" dirty="0">
                <a:latin typeface="+mn-lt"/>
              </a:rPr>
              <a:t>in</a:t>
            </a:r>
            <a:endParaRPr lang="en-US" sz="2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1E815-CA78-CE8E-1B28-6F05E26E55A6}"/>
              </a:ext>
            </a:extLst>
          </p:cNvPr>
          <p:cNvSpPr txBox="1"/>
          <p:nvPr/>
        </p:nvSpPr>
        <p:spPr>
          <a:xfrm>
            <a:off x="593164" y="1254153"/>
            <a:ext cx="110812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Python provides the </a:t>
            </a:r>
            <a:r>
              <a:rPr lang="en-US" sz="2000" b="1" dirty="0">
                <a:latin typeface="+mn-lt"/>
              </a:rPr>
              <a:t>in</a:t>
            </a:r>
            <a:r>
              <a:rPr lang="en-US" sz="2000" b="1" dirty="0"/>
              <a:t> operator</a:t>
            </a:r>
            <a:r>
              <a:rPr lang="en-US" sz="2000" dirty="0"/>
              <a:t> to check whether a value exists in a list.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5102E0D-C7E0-22DD-F173-D654D4B2CF13}"/>
              </a:ext>
            </a:extLst>
          </p:cNvPr>
          <p:cNvSpPr/>
          <p:nvPr/>
        </p:nvSpPr>
        <p:spPr>
          <a:xfrm>
            <a:off x="42655" y="1725205"/>
            <a:ext cx="6248409" cy="159151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FC802B2-2446-46A8-87C0-CDAF2D145E4A}"/>
              </a:ext>
            </a:extLst>
          </p:cNvPr>
          <p:cNvSpPr/>
          <p:nvPr/>
        </p:nvSpPr>
        <p:spPr>
          <a:xfrm>
            <a:off x="225536" y="1889796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A33DF0F-5716-16E6-0977-BA1371A66CC8}"/>
              </a:ext>
            </a:extLst>
          </p:cNvPr>
          <p:cNvSpPr/>
          <p:nvPr/>
        </p:nvSpPr>
        <p:spPr>
          <a:xfrm>
            <a:off x="390128" y="1889796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F88ECA9-906C-0CF7-0215-55FF2969F04D}"/>
              </a:ext>
            </a:extLst>
          </p:cNvPr>
          <p:cNvSpPr/>
          <p:nvPr/>
        </p:nvSpPr>
        <p:spPr>
          <a:xfrm>
            <a:off x="554720" y="1889796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09EB9015-A6D7-7295-169E-66E563DA5B33}"/>
              </a:ext>
            </a:extLst>
          </p:cNvPr>
          <p:cNvSpPr/>
          <p:nvPr/>
        </p:nvSpPr>
        <p:spPr>
          <a:xfrm>
            <a:off x="298688" y="2200690"/>
            <a:ext cx="5835120" cy="883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fruits = ["apple", "banana", "orange"]</a:t>
            </a:r>
          </a:p>
          <a:p>
            <a:endParaRPr lang="nb-NO" sz="2000" dirty="0">
              <a:solidFill>
                <a:srgbClr val="E6EDF3"/>
              </a:solidFill>
              <a:latin typeface="Aptos Mono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print("banana" in fruits)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8E5390-32CE-BB53-F2A7-E57DF47BF44F}"/>
              </a:ext>
            </a:extLst>
          </p:cNvPr>
          <p:cNvSpPr txBox="1"/>
          <p:nvPr/>
        </p:nvSpPr>
        <p:spPr>
          <a:xfrm>
            <a:off x="679922" y="4526872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9" name="Striped Right Arrow 12">
            <a:extLst>
              <a:ext uri="{FF2B5EF4-FFF2-40B4-BE49-F238E27FC236}">
                <a16:creationId xmlns:a16="http://schemas.microsoft.com/office/drawing/2014/main" id="{410C9847-6347-24E7-D87B-F523B6E5FA15}"/>
              </a:ext>
            </a:extLst>
          </p:cNvPr>
          <p:cNvSpPr/>
          <p:nvPr/>
        </p:nvSpPr>
        <p:spPr>
          <a:xfrm rot="5400000">
            <a:off x="1842091" y="3619253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44FAC93F-C54A-9C84-0ACF-A8846014C3F3}"/>
              </a:ext>
            </a:extLst>
          </p:cNvPr>
          <p:cNvSpPr/>
          <p:nvPr/>
        </p:nvSpPr>
        <p:spPr>
          <a:xfrm>
            <a:off x="5943591" y="3475687"/>
            <a:ext cx="6248409" cy="159151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0B7D1BAC-25CF-2132-5D24-8B17245BBF43}"/>
              </a:ext>
            </a:extLst>
          </p:cNvPr>
          <p:cNvSpPr/>
          <p:nvPr/>
        </p:nvSpPr>
        <p:spPr>
          <a:xfrm>
            <a:off x="6126472" y="3640278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F2892437-85D0-0BA1-8F61-402106D2FB6B}"/>
              </a:ext>
            </a:extLst>
          </p:cNvPr>
          <p:cNvSpPr/>
          <p:nvPr/>
        </p:nvSpPr>
        <p:spPr>
          <a:xfrm>
            <a:off x="6291064" y="3640278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8C9146B4-FEEB-B975-BB5F-C6DB89BF0744}"/>
              </a:ext>
            </a:extLst>
          </p:cNvPr>
          <p:cNvSpPr/>
          <p:nvPr/>
        </p:nvSpPr>
        <p:spPr>
          <a:xfrm>
            <a:off x="6455656" y="3640278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DE9EA185-B665-F45F-6459-2D8A3114A409}"/>
              </a:ext>
            </a:extLst>
          </p:cNvPr>
          <p:cNvSpPr/>
          <p:nvPr/>
        </p:nvSpPr>
        <p:spPr>
          <a:xfrm>
            <a:off x="6199624" y="3951172"/>
            <a:ext cx="5835120" cy="88355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nb-NO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fruits = ["apple", "banana", "orange"]</a:t>
            </a:r>
          </a:p>
          <a:p>
            <a:endParaRPr lang="nb-NO" sz="2000" dirty="0">
              <a:solidFill>
                <a:srgbClr val="E6EDF3"/>
              </a:solidFill>
              <a:latin typeface="Aptos Mono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print("grape" in fruits)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F6B23E-D744-2F37-F8F3-E1FF9E6CB77D}"/>
              </a:ext>
            </a:extLst>
          </p:cNvPr>
          <p:cNvSpPr txBox="1"/>
          <p:nvPr/>
        </p:nvSpPr>
        <p:spPr>
          <a:xfrm>
            <a:off x="7382062" y="6320609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33" name="Striped Right Arrow 12">
            <a:extLst>
              <a:ext uri="{FF2B5EF4-FFF2-40B4-BE49-F238E27FC236}">
                <a16:creationId xmlns:a16="http://schemas.microsoft.com/office/drawing/2014/main" id="{6642AC46-9B5F-7D4D-CF8A-2509025207AE}"/>
              </a:ext>
            </a:extLst>
          </p:cNvPr>
          <p:cNvSpPr/>
          <p:nvPr/>
        </p:nvSpPr>
        <p:spPr>
          <a:xfrm rot="5400000">
            <a:off x="8544231" y="5412990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0F54E4-B075-40C6-4CA4-9D9059FE15F8}"/>
              </a:ext>
            </a:extLst>
          </p:cNvPr>
          <p:cNvSpPr txBox="1"/>
          <p:nvPr/>
        </p:nvSpPr>
        <p:spPr>
          <a:xfrm>
            <a:off x="679922" y="6092688"/>
            <a:ext cx="61373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result is always a Boolean value:</a:t>
            </a:r>
          </a:p>
        </p:txBody>
      </p:sp>
    </p:spTree>
    <p:extLst>
      <p:ext uri="{BB962C8B-B14F-4D97-AF65-F5344CB8AC3E}">
        <p14:creationId xmlns:p14="http://schemas.microsoft.com/office/powerpoint/2010/main" val="12758535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31D5B5-7ECB-FE3D-E40D-8E1DB109130A}"/>
              </a:ext>
            </a:extLst>
          </p:cNvPr>
          <p:cNvSpPr txBox="1"/>
          <p:nvPr/>
        </p:nvSpPr>
        <p:spPr>
          <a:xfrm>
            <a:off x="3046709" y="297095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Using </a:t>
            </a:r>
            <a:r>
              <a:rPr lang="en-US" sz="2800" dirty="0">
                <a:latin typeface="+mn-lt"/>
              </a:rPr>
              <a:t>in</a:t>
            </a:r>
            <a:r>
              <a:rPr lang="en-US" sz="2800" dirty="0"/>
              <a:t> with </a:t>
            </a:r>
            <a:r>
              <a:rPr lang="en-US" sz="2800" dirty="0">
                <a:latin typeface="+mn-lt"/>
              </a:rPr>
              <a:t>if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A9896-38CA-337B-4437-8C7736D51960}"/>
              </a:ext>
            </a:extLst>
          </p:cNvPr>
          <p:cNvSpPr txBox="1"/>
          <p:nvPr/>
        </p:nvSpPr>
        <p:spPr>
          <a:xfrm>
            <a:off x="802036" y="985456"/>
            <a:ext cx="99537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becomes more useful when combined with a decision: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898FC0D-BD2E-2AFE-F08E-4744627B658D}"/>
              </a:ext>
            </a:extLst>
          </p:cNvPr>
          <p:cNvSpPr/>
          <p:nvPr/>
        </p:nvSpPr>
        <p:spPr>
          <a:xfrm>
            <a:off x="2522806" y="2089861"/>
            <a:ext cx="5835121" cy="260612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775FE9DF-0430-D6A0-DB84-F2BDEFD040C5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B1271879-CAA6-1E61-5278-9E82C3DB94D8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E1C1E1F1-230A-D955-6B2B-B977DEC4F0DD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853D8184-ED3A-4A73-E9C7-FED0B81D8ED7}"/>
              </a:ext>
            </a:extLst>
          </p:cNvPr>
          <p:cNvSpPr/>
          <p:nvPr/>
        </p:nvSpPr>
        <p:spPr>
          <a:xfrm>
            <a:off x="2778839" y="2565346"/>
            <a:ext cx="5453886" cy="19569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students = ["Ali", "Sara", "Tom"]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name = "Sara"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if name in students: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print("Student found")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else: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print("Student not found")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BF3BBB-E092-7829-A955-5060FF361540}"/>
              </a:ext>
            </a:extLst>
          </p:cNvPr>
          <p:cNvSpPr txBox="1"/>
          <p:nvPr/>
        </p:nvSpPr>
        <p:spPr>
          <a:xfrm>
            <a:off x="3807120" y="5853019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Student found</a:t>
            </a:r>
          </a:p>
        </p:txBody>
      </p:sp>
      <p:sp>
        <p:nvSpPr>
          <p:cNvPr id="19" name="Striped Right Arrow 12">
            <a:extLst>
              <a:ext uri="{FF2B5EF4-FFF2-40B4-BE49-F238E27FC236}">
                <a16:creationId xmlns:a16="http://schemas.microsoft.com/office/drawing/2014/main" id="{826993BE-241B-8BC4-21DF-11CA3989DC93}"/>
              </a:ext>
            </a:extLst>
          </p:cNvPr>
          <p:cNvSpPr/>
          <p:nvPr/>
        </p:nvSpPr>
        <p:spPr>
          <a:xfrm rot="5400000">
            <a:off x="4973173" y="5056601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530267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B6D3DE-B6B5-265D-90A1-2C8BA2BEA585}"/>
              </a:ext>
            </a:extLst>
          </p:cNvPr>
          <p:cNvSpPr txBox="1"/>
          <p:nvPr/>
        </p:nvSpPr>
        <p:spPr>
          <a:xfrm>
            <a:off x="3049292" y="567001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Lists Are Mutable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15D8A-B53D-5F29-B2C5-471466C04641}"/>
              </a:ext>
            </a:extLst>
          </p:cNvPr>
          <p:cNvSpPr txBox="1"/>
          <p:nvPr/>
        </p:nvSpPr>
        <p:spPr>
          <a:xfrm>
            <a:off x="446868" y="1365165"/>
            <a:ext cx="112982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One important feature of Python lists is that they are </a:t>
            </a:r>
            <a:r>
              <a:rPr lang="en-US" sz="2000" b="1" dirty="0"/>
              <a:t>mutable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b="1" dirty="0"/>
              <a:t>Mutable means that an existing object can be changed after it is created.</a:t>
            </a:r>
            <a:endParaRPr lang="en-US"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0D3DFF1-AF1F-F4DB-73B5-182A7A6ED45C}"/>
              </a:ext>
            </a:extLst>
          </p:cNvPr>
          <p:cNvSpPr/>
          <p:nvPr/>
        </p:nvSpPr>
        <p:spPr>
          <a:xfrm>
            <a:off x="2522806" y="2391553"/>
            <a:ext cx="5835121" cy="2195946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27D2A76-2A89-621A-C086-05969101E506}"/>
              </a:ext>
            </a:extLst>
          </p:cNvPr>
          <p:cNvSpPr/>
          <p:nvPr/>
        </p:nvSpPr>
        <p:spPr>
          <a:xfrm>
            <a:off x="2705687" y="2556143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21349962-48A4-8C64-0324-7C3BC84E3FC6}"/>
              </a:ext>
            </a:extLst>
          </p:cNvPr>
          <p:cNvSpPr/>
          <p:nvPr/>
        </p:nvSpPr>
        <p:spPr>
          <a:xfrm>
            <a:off x="2870279" y="2556143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9AB537F-A835-FDD5-2E51-335D1C409261}"/>
              </a:ext>
            </a:extLst>
          </p:cNvPr>
          <p:cNvSpPr/>
          <p:nvPr/>
        </p:nvSpPr>
        <p:spPr>
          <a:xfrm>
            <a:off x="3034871" y="2556143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4CFDC64E-E6AB-FD6F-3FE3-2ED17846483B}"/>
              </a:ext>
            </a:extLst>
          </p:cNvPr>
          <p:cNvSpPr/>
          <p:nvPr/>
        </p:nvSpPr>
        <p:spPr>
          <a:xfrm>
            <a:off x="2778839" y="2867037"/>
            <a:ext cx="5453886" cy="158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 = ["red", "green", "blue"]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colors[1] = "yellow"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print(colors)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4A9039-4106-5732-A1C5-E7B21D626456}"/>
              </a:ext>
            </a:extLst>
          </p:cNvPr>
          <p:cNvSpPr txBox="1"/>
          <p:nvPr/>
        </p:nvSpPr>
        <p:spPr>
          <a:xfrm>
            <a:off x="3807120" y="5744532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['red', 'yellow', 'blue']</a:t>
            </a:r>
          </a:p>
        </p:txBody>
      </p:sp>
      <p:sp>
        <p:nvSpPr>
          <p:cNvPr id="19" name="Striped Right Arrow 12">
            <a:extLst>
              <a:ext uri="{FF2B5EF4-FFF2-40B4-BE49-F238E27FC236}">
                <a16:creationId xmlns:a16="http://schemas.microsoft.com/office/drawing/2014/main" id="{9F8FDF57-9989-0289-5B3C-112123C2674D}"/>
              </a:ext>
            </a:extLst>
          </p:cNvPr>
          <p:cNvSpPr/>
          <p:nvPr/>
        </p:nvSpPr>
        <p:spPr>
          <a:xfrm rot="5400000">
            <a:off x="4973173" y="4948114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26CF54-DA9D-A704-08B2-250D1CDD2FB8}"/>
              </a:ext>
            </a:extLst>
          </p:cNvPr>
          <p:cNvSpPr txBox="1"/>
          <p:nvPr/>
        </p:nvSpPr>
        <p:spPr>
          <a:xfrm>
            <a:off x="7368153" y="4784950"/>
            <a:ext cx="462753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Important: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sz="2000" dirty="0"/>
              <a:t>We did </a:t>
            </a:r>
            <a:r>
              <a:rPr lang="en-US" sz="2000" b="1" dirty="0"/>
              <a:t>not create another list</a:t>
            </a:r>
            <a:r>
              <a:rPr lang="en-US" sz="2000" dirty="0"/>
              <a:t> here.</a:t>
            </a:r>
          </a:p>
          <a:p>
            <a:pPr>
              <a:buNone/>
            </a:pPr>
            <a:r>
              <a:rPr lang="en-US" sz="2000" dirty="0"/>
              <a:t>We </a:t>
            </a:r>
            <a:r>
              <a:rPr lang="en-US" sz="2000" b="1" dirty="0"/>
              <a:t>modified the existing list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b="1" dirty="0"/>
              <a:t>Changing an existing object is called mutation.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2090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B56E-DEC6-3C39-52B1-79D77D43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984ADF-4884-A499-233D-1BEAA64A53EC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4D870BB-FC8D-9E28-3F16-E1D07FB536F7}"/>
              </a:ext>
            </a:extLst>
          </p:cNvPr>
          <p:cNvSpPr/>
          <p:nvPr/>
        </p:nvSpPr>
        <p:spPr>
          <a:xfrm>
            <a:off x="2522806" y="2089861"/>
            <a:ext cx="5835121" cy="195699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1FFCCFF0-842B-620B-D31B-8F97A725D7BF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7705985-840F-9C7A-DEFE-81EBA25A6528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E3348C23-156C-2328-8CAD-BCAA9769AEBD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5D4A55CE-2B64-0D81-278A-7425A91972B3}"/>
              </a:ext>
            </a:extLst>
          </p:cNvPr>
          <p:cNvSpPr/>
          <p:nvPr/>
        </p:nvSpPr>
        <p:spPr>
          <a:xfrm>
            <a:off x="2778839" y="2565346"/>
            <a:ext cx="5453886" cy="13808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numbers[0] = 100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01C24F-B5D3-EE4E-DA70-572F1E5A0275}"/>
              </a:ext>
            </a:extLst>
          </p:cNvPr>
          <p:cNvSpPr txBox="1"/>
          <p:nvPr/>
        </p:nvSpPr>
        <p:spPr>
          <a:xfrm>
            <a:off x="3807120" y="535967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A089E11D-4CE1-C858-8265-DC12EB487FA6}"/>
              </a:ext>
            </a:extLst>
          </p:cNvPr>
          <p:cNvSpPr/>
          <p:nvPr/>
        </p:nvSpPr>
        <p:spPr>
          <a:xfrm rot="5400000">
            <a:off x="4969289" y="445205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5537E-A814-4F79-4F9F-8EF7EF504423}"/>
              </a:ext>
            </a:extLst>
          </p:cNvPr>
          <p:cNvSpPr txBox="1"/>
          <p:nvPr/>
        </p:nvSpPr>
        <p:spPr>
          <a:xfrm>
            <a:off x="757829" y="1310511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will be printed?</a:t>
            </a:r>
          </a:p>
        </p:txBody>
      </p:sp>
    </p:spTree>
    <p:extLst>
      <p:ext uri="{BB962C8B-B14F-4D97-AF65-F5344CB8AC3E}">
        <p14:creationId xmlns:p14="http://schemas.microsoft.com/office/powerpoint/2010/main" val="8282051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F08DC-45F6-0DCE-C0BC-43BE7FBB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2A1F08-907C-5187-8A0F-FCCDA37F131E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CD3273B-082D-EC4E-5762-231408D3A9A4}"/>
              </a:ext>
            </a:extLst>
          </p:cNvPr>
          <p:cNvSpPr/>
          <p:nvPr/>
        </p:nvSpPr>
        <p:spPr>
          <a:xfrm>
            <a:off x="2522806" y="2089861"/>
            <a:ext cx="5835121" cy="195699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E5B790A-02C0-D8FB-0029-29093445C375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5E0EBEFA-2FB7-1983-C7B9-0575B689D098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CED8D2A5-7C73-CCAF-2036-E74031F3AA1A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250680E9-C6A6-3D7C-E1AB-C8325E22939A}"/>
              </a:ext>
            </a:extLst>
          </p:cNvPr>
          <p:cNvSpPr/>
          <p:nvPr/>
        </p:nvSpPr>
        <p:spPr>
          <a:xfrm>
            <a:off x="2778839" y="2565346"/>
            <a:ext cx="5453886" cy="13808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numbers[0] = 100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9B04C-0F0B-11C5-F3B6-16AC25759CE2}"/>
              </a:ext>
            </a:extLst>
          </p:cNvPr>
          <p:cNvSpPr txBox="1"/>
          <p:nvPr/>
        </p:nvSpPr>
        <p:spPr>
          <a:xfrm>
            <a:off x="3807120" y="535967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[100, 20, 30]</a:t>
            </a: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943EFFE1-EB0C-5F40-D375-B7CBFB157A0B}"/>
              </a:ext>
            </a:extLst>
          </p:cNvPr>
          <p:cNvSpPr/>
          <p:nvPr/>
        </p:nvSpPr>
        <p:spPr>
          <a:xfrm rot="5400000">
            <a:off x="4969289" y="445205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92A6F-7064-9C78-5859-D7086D623655}"/>
              </a:ext>
            </a:extLst>
          </p:cNvPr>
          <p:cNvSpPr txBox="1"/>
          <p:nvPr/>
        </p:nvSpPr>
        <p:spPr>
          <a:xfrm>
            <a:off x="757829" y="1310511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will be printed?</a:t>
            </a:r>
          </a:p>
        </p:txBody>
      </p:sp>
    </p:spTree>
    <p:extLst>
      <p:ext uri="{BB962C8B-B14F-4D97-AF65-F5344CB8AC3E}">
        <p14:creationId xmlns:p14="http://schemas.microsoft.com/office/powerpoint/2010/main" val="40297043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A6B5B3-0292-D24C-E08D-C594043F9525}"/>
              </a:ext>
            </a:extLst>
          </p:cNvPr>
          <p:cNvSpPr txBox="1"/>
          <p:nvPr/>
        </p:nvSpPr>
        <p:spPr>
          <a:xfrm>
            <a:off x="3048000" y="4122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Adding Items with </a:t>
            </a:r>
            <a:r>
              <a:rPr lang="en-GB" sz="2800" dirty="0">
                <a:latin typeface="Courier New" panose="02070309020205020404" pitchFamily="49" charset="0"/>
              </a:rPr>
              <a:t>append()</a:t>
            </a:r>
            <a:endParaRPr lang="en-E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1FF8C-1A07-59A2-9BDA-3DE43356A925}"/>
              </a:ext>
            </a:extLst>
          </p:cNvPr>
          <p:cNvSpPr txBox="1"/>
          <p:nvPr/>
        </p:nvSpPr>
        <p:spPr>
          <a:xfrm>
            <a:off x="469900" y="1524001"/>
            <a:ext cx="11010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The </a:t>
            </a:r>
            <a:r>
              <a:rPr lang="en-GB" sz="2000" b="1" dirty="0">
                <a:latin typeface="Courier New" panose="02070309020205020404" pitchFamily="49" charset="0"/>
              </a:rPr>
              <a:t>append()</a:t>
            </a:r>
            <a:r>
              <a:rPr lang="en-GB" sz="2000" dirty="0"/>
              <a:t> method adds </a:t>
            </a:r>
            <a:r>
              <a:rPr lang="en-GB" sz="2000" b="1" dirty="0"/>
              <a:t>one item to the end</a:t>
            </a:r>
            <a:r>
              <a:rPr lang="en-GB" sz="2000" dirty="0"/>
              <a:t> of an existing list.</a:t>
            </a:r>
            <a:endParaRPr lang="en-E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3FD20FB-CAD6-DE9F-25BC-B89190973279}"/>
              </a:ext>
            </a:extLst>
          </p:cNvPr>
          <p:cNvSpPr/>
          <p:nvPr/>
        </p:nvSpPr>
        <p:spPr>
          <a:xfrm>
            <a:off x="469900" y="2165927"/>
            <a:ext cx="5835121" cy="2195946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6F33A6-8BF8-82C7-3E1E-7232674A4518}"/>
              </a:ext>
            </a:extLst>
          </p:cNvPr>
          <p:cNvSpPr/>
          <p:nvPr/>
        </p:nvSpPr>
        <p:spPr>
          <a:xfrm>
            <a:off x="652781" y="2330517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9207B9D-9B69-3C1B-870B-FEFD2ACA15B9}"/>
              </a:ext>
            </a:extLst>
          </p:cNvPr>
          <p:cNvSpPr/>
          <p:nvPr/>
        </p:nvSpPr>
        <p:spPr>
          <a:xfrm>
            <a:off x="817373" y="2330517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925FE86-32BB-086F-622A-E555F377EF4E}"/>
              </a:ext>
            </a:extLst>
          </p:cNvPr>
          <p:cNvSpPr/>
          <p:nvPr/>
        </p:nvSpPr>
        <p:spPr>
          <a:xfrm>
            <a:off x="981965" y="2330517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D6AE9E5-4ED7-3EB0-A798-9B3F77FF6358}"/>
              </a:ext>
            </a:extLst>
          </p:cNvPr>
          <p:cNvSpPr/>
          <p:nvPr/>
        </p:nvSpPr>
        <p:spPr>
          <a:xfrm>
            <a:off x="725933" y="2641411"/>
            <a:ext cx="5453886" cy="158336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fruits = ["apple", "banana"]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fruits.append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("orange")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print(fruits)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28ED40-3DEE-6B6A-68C7-3153A97228BE}"/>
              </a:ext>
            </a:extLst>
          </p:cNvPr>
          <p:cNvSpPr txBox="1"/>
          <p:nvPr/>
        </p:nvSpPr>
        <p:spPr>
          <a:xfrm>
            <a:off x="469900" y="5698129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['apple', 'banana', 'orange']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2" name="Striped Right Arrow 12">
            <a:extLst>
              <a:ext uri="{FF2B5EF4-FFF2-40B4-BE49-F238E27FC236}">
                <a16:creationId xmlns:a16="http://schemas.microsoft.com/office/drawing/2014/main" id="{1650493E-EC86-9FA3-5993-3E10A229A290}"/>
              </a:ext>
            </a:extLst>
          </p:cNvPr>
          <p:cNvSpPr/>
          <p:nvPr/>
        </p:nvSpPr>
        <p:spPr>
          <a:xfrm rot="5400000">
            <a:off x="1632069" y="4790510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860157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1216C-A1B3-A75B-B01B-1BF5EFD8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6CC7A9-617D-7735-92C4-960E6FA24233}"/>
              </a:ext>
            </a:extLst>
          </p:cNvPr>
          <p:cNvSpPr txBox="1"/>
          <p:nvPr/>
        </p:nvSpPr>
        <p:spPr>
          <a:xfrm>
            <a:off x="3048000" y="4122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Adding Items with </a:t>
            </a:r>
            <a:r>
              <a:rPr lang="en-GB" sz="2800" dirty="0">
                <a:latin typeface="Courier New" panose="02070309020205020404" pitchFamily="49" charset="0"/>
              </a:rPr>
              <a:t>append()</a:t>
            </a:r>
            <a:endParaRPr lang="en-E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19311-C966-F0D6-D1E1-3401B1D84FDC}"/>
              </a:ext>
            </a:extLst>
          </p:cNvPr>
          <p:cNvSpPr txBox="1"/>
          <p:nvPr/>
        </p:nvSpPr>
        <p:spPr>
          <a:xfrm>
            <a:off x="469900" y="1524001"/>
            <a:ext cx="110109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Starting with an Empty List</a:t>
            </a:r>
            <a:endParaRPr lang="en-E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01445C9-53EB-F6BB-2494-10D4B334CDC5}"/>
              </a:ext>
            </a:extLst>
          </p:cNvPr>
          <p:cNvSpPr/>
          <p:nvPr/>
        </p:nvSpPr>
        <p:spPr>
          <a:xfrm>
            <a:off x="3594100" y="2165927"/>
            <a:ext cx="5835121" cy="2767963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FCE5C06-5B9F-17D9-6478-4E4ABE4DAEBB}"/>
              </a:ext>
            </a:extLst>
          </p:cNvPr>
          <p:cNvSpPr/>
          <p:nvPr/>
        </p:nvSpPr>
        <p:spPr>
          <a:xfrm>
            <a:off x="3776981" y="2330518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958CB08-3BC4-57A8-C20D-A4504EF34773}"/>
              </a:ext>
            </a:extLst>
          </p:cNvPr>
          <p:cNvSpPr/>
          <p:nvPr/>
        </p:nvSpPr>
        <p:spPr>
          <a:xfrm>
            <a:off x="3941573" y="2330518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8ABA658-1CD8-43A1-28CA-89661EE9F634}"/>
              </a:ext>
            </a:extLst>
          </p:cNvPr>
          <p:cNvSpPr/>
          <p:nvPr/>
        </p:nvSpPr>
        <p:spPr>
          <a:xfrm>
            <a:off x="4106165" y="2330518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7C87A6-8E74-E7E6-1706-9DCA34436343}"/>
              </a:ext>
            </a:extLst>
          </p:cNvPr>
          <p:cNvSpPr/>
          <p:nvPr/>
        </p:nvSpPr>
        <p:spPr>
          <a:xfrm>
            <a:off x="3850133" y="2641411"/>
            <a:ext cx="5453886" cy="205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students = []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students.append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("Ali")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students.append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("Sara")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students.append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("Tom")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print(students)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4545A-B4E9-9D4A-71A5-22158F90C881}"/>
              </a:ext>
            </a:extLst>
          </p:cNvPr>
          <p:cNvSpPr txBox="1"/>
          <p:nvPr/>
        </p:nvSpPr>
        <p:spPr>
          <a:xfrm>
            <a:off x="4747010" y="6268924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['Ali', 'Sara', 'Tom']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2" name="Striped Right Arrow 12">
            <a:extLst>
              <a:ext uri="{FF2B5EF4-FFF2-40B4-BE49-F238E27FC236}">
                <a16:creationId xmlns:a16="http://schemas.microsoft.com/office/drawing/2014/main" id="{DB1A17E3-686F-C6A9-A5B5-A80C64BE80FE}"/>
              </a:ext>
            </a:extLst>
          </p:cNvPr>
          <p:cNvSpPr/>
          <p:nvPr/>
        </p:nvSpPr>
        <p:spPr>
          <a:xfrm rot="5400000">
            <a:off x="5909179" y="5361305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D8E4D-2002-3E3F-966C-E8528D9667D5}"/>
              </a:ext>
            </a:extLst>
          </p:cNvPr>
          <p:cNvSpPr txBox="1"/>
          <p:nvPr/>
        </p:nvSpPr>
        <p:spPr>
          <a:xfrm>
            <a:off x="265943" y="5387703"/>
            <a:ext cx="46489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/>
              <a:t>Important</a:t>
            </a:r>
          </a:p>
          <a:p>
            <a:pPr>
              <a:buNone/>
            </a:pPr>
            <a:r>
              <a:rPr lang="en-GB" sz="2000" dirty="0">
                <a:latin typeface="Courier New" panose="02070309020205020404" pitchFamily="49" charset="0"/>
              </a:rPr>
              <a:t>append()</a:t>
            </a:r>
            <a:r>
              <a:rPr lang="en-GB" sz="2000" dirty="0"/>
              <a:t> </a:t>
            </a:r>
            <a:r>
              <a:rPr lang="en-GB" sz="2000" b="1" dirty="0"/>
              <a:t>modifies the existing list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25157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A9EEA-D6E4-299C-1A43-0FE5B7DB6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4AB774-CA94-5D38-A134-B821F606C157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52C1E8E-0E8D-7213-6730-D76389E61237}"/>
              </a:ext>
            </a:extLst>
          </p:cNvPr>
          <p:cNvSpPr/>
          <p:nvPr/>
        </p:nvSpPr>
        <p:spPr>
          <a:xfrm>
            <a:off x="2522806" y="2089861"/>
            <a:ext cx="5835121" cy="249483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60F370D0-91CF-9483-3381-A73FD7695F1A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28B97232-0AC6-574B-C8F9-9E2231C8048D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B5F45DD0-1F8D-DAB3-9941-52C78BCC1EF8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9A587567-89DB-DF17-DF62-96E638CBBC31}"/>
              </a:ext>
            </a:extLst>
          </p:cNvPr>
          <p:cNvSpPr/>
          <p:nvPr/>
        </p:nvSpPr>
        <p:spPr>
          <a:xfrm>
            <a:off x="2778839" y="2565346"/>
            <a:ext cx="5453886" cy="189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(30)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(40)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2D40A-87F8-BBBA-58EF-2E0A3205444D}"/>
              </a:ext>
            </a:extLst>
          </p:cNvPr>
          <p:cNvSpPr txBox="1"/>
          <p:nvPr/>
        </p:nvSpPr>
        <p:spPr>
          <a:xfrm>
            <a:off x="3832520" y="5852934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B31BAAD8-9153-97C7-37EE-84314128DCAF}"/>
              </a:ext>
            </a:extLst>
          </p:cNvPr>
          <p:cNvSpPr/>
          <p:nvPr/>
        </p:nvSpPr>
        <p:spPr>
          <a:xfrm rot="5400000">
            <a:off x="4994689" y="4945315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E9516-82B5-ED36-66DE-1FBDCCD928C0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will be printed?</a:t>
            </a:r>
          </a:p>
        </p:txBody>
      </p:sp>
    </p:spTree>
    <p:extLst>
      <p:ext uri="{BB962C8B-B14F-4D97-AF65-F5344CB8AC3E}">
        <p14:creationId xmlns:p14="http://schemas.microsoft.com/office/powerpoint/2010/main" val="8329105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5DD98-32A6-1237-4A05-39D93E7B4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AE917E-67C4-1B6E-F36D-24F8A0FB7FEA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CCE68CA-5E7A-3155-D659-29809678B095}"/>
              </a:ext>
            </a:extLst>
          </p:cNvPr>
          <p:cNvSpPr/>
          <p:nvPr/>
        </p:nvSpPr>
        <p:spPr>
          <a:xfrm>
            <a:off x="2522806" y="2089861"/>
            <a:ext cx="5835121" cy="249483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D645D7AA-69C5-025C-58EA-DC41C2937727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A422461-CF89-FBDB-CF4B-C9C38BCA23EA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012F8259-8ABA-3663-2DE8-F7B993022B94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5BE68BC-D641-D95A-2889-86D6E24E9B19}"/>
              </a:ext>
            </a:extLst>
          </p:cNvPr>
          <p:cNvSpPr/>
          <p:nvPr/>
        </p:nvSpPr>
        <p:spPr>
          <a:xfrm>
            <a:off x="2778839" y="2565346"/>
            <a:ext cx="5453886" cy="189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(30)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(40)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39764-AC1C-C4C1-4B72-9CD45789956A}"/>
              </a:ext>
            </a:extLst>
          </p:cNvPr>
          <p:cNvSpPr txBox="1"/>
          <p:nvPr/>
        </p:nvSpPr>
        <p:spPr>
          <a:xfrm>
            <a:off x="3832520" y="5852934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[10, 20, 30, 40]</a:t>
            </a: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92EDF4B9-1A88-2E97-6480-CD8B2E38B034}"/>
              </a:ext>
            </a:extLst>
          </p:cNvPr>
          <p:cNvSpPr/>
          <p:nvPr/>
        </p:nvSpPr>
        <p:spPr>
          <a:xfrm rot="5400000">
            <a:off x="4994689" y="4945315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2A019-D441-5933-2E21-E44412DFD4BA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will be printed?</a:t>
            </a:r>
          </a:p>
        </p:txBody>
      </p:sp>
    </p:spTree>
    <p:extLst>
      <p:ext uri="{BB962C8B-B14F-4D97-AF65-F5344CB8AC3E}">
        <p14:creationId xmlns:p14="http://schemas.microsoft.com/office/powerpoint/2010/main" val="11494434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32F2F1-F999-0496-7C69-19AC750CE5EF}"/>
              </a:ext>
            </a:extLst>
          </p:cNvPr>
          <p:cNvSpPr txBox="1"/>
          <p:nvPr/>
        </p:nvSpPr>
        <p:spPr>
          <a:xfrm>
            <a:off x="3048000" y="5773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Removing Items with </a:t>
            </a:r>
            <a:r>
              <a:rPr lang="en-GB" sz="2800" dirty="0">
                <a:latin typeface="Courier New" panose="02070309020205020404" pitchFamily="49" charset="0"/>
              </a:rPr>
              <a:t>pop()</a:t>
            </a:r>
            <a:endParaRPr lang="en-E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C38240-AE80-91FD-91D2-BF63D76B1D32}"/>
              </a:ext>
            </a:extLst>
          </p:cNvPr>
          <p:cNvSpPr txBox="1"/>
          <p:nvPr/>
        </p:nvSpPr>
        <p:spPr>
          <a:xfrm>
            <a:off x="393700" y="1308101"/>
            <a:ext cx="109855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The </a:t>
            </a:r>
            <a:r>
              <a:rPr lang="en-GB" sz="2000" b="1" dirty="0">
                <a:latin typeface="Courier New" panose="02070309020205020404" pitchFamily="49" charset="0"/>
              </a:rPr>
              <a:t>pop()</a:t>
            </a:r>
            <a:r>
              <a:rPr lang="en-GB" sz="2000" dirty="0"/>
              <a:t> method removes an item from a list </a:t>
            </a:r>
            <a:r>
              <a:rPr lang="en-GB" sz="2000" b="1" dirty="0"/>
              <a:t>and returns the removed value</a:t>
            </a:r>
            <a:r>
              <a:rPr lang="en-GB" sz="2000" dirty="0"/>
              <a:t>.</a:t>
            </a:r>
            <a:endParaRPr lang="en-ES" sz="2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A732FBC-882E-F5D3-8A3B-8E0C312B42AD}"/>
              </a:ext>
            </a:extLst>
          </p:cNvPr>
          <p:cNvSpPr/>
          <p:nvPr/>
        </p:nvSpPr>
        <p:spPr>
          <a:xfrm>
            <a:off x="2522806" y="2089861"/>
            <a:ext cx="6405294" cy="249483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47CC291-3A38-C866-0D5A-172A27A8E2F0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C7FBBC6-A872-CB5E-1372-72E4BFC9AF1B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45B2999-4ACE-C93D-00C4-67E8EEB12C85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4270068-EFC5-35BA-C40C-59869CDFF72C}"/>
              </a:ext>
            </a:extLst>
          </p:cNvPr>
          <p:cNvSpPr/>
          <p:nvPr/>
        </p:nvSpPr>
        <p:spPr>
          <a:xfrm>
            <a:off x="2778839" y="2565346"/>
            <a:ext cx="5958762" cy="189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fruits = ["apple", "banana", "orange"]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removed = </a:t>
            </a:r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fruits.pop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print(fruits)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print(removed)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96683E-3492-F7F6-271B-DA974376F1E1}"/>
              </a:ext>
            </a:extLst>
          </p:cNvPr>
          <p:cNvSpPr txBox="1"/>
          <p:nvPr/>
        </p:nvSpPr>
        <p:spPr>
          <a:xfrm>
            <a:off x="4286248" y="5487744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bg1"/>
                </a:solidFill>
              </a:rPr>
              <a:t>fruits  → ['apple', 'banana']</a:t>
            </a:r>
          </a:p>
          <a:p>
            <a:pPr algn="ctr"/>
            <a:r>
              <a:rPr lang="en-GB" sz="2000" dirty="0">
                <a:solidFill>
                  <a:schemeClr val="bg1"/>
                </a:solidFill>
              </a:rPr>
              <a:t>removed → 'orange'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2" name="Striped Right Arrow 12">
            <a:extLst>
              <a:ext uri="{FF2B5EF4-FFF2-40B4-BE49-F238E27FC236}">
                <a16:creationId xmlns:a16="http://schemas.microsoft.com/office/drawing/2014/main" id="{A71E3004-3A38-A904-8EF5-CA5D738552FD}"/>
              </a:ext>
            </a:extLst>
          </p:cNvPr>
          <p:cNvSpPr/>
          <p:nvPr/>
        </p:nvSpPr>
        <p:spPr>
          <a:xfrm rot="5400000">
            <a:off x="5532506" y="4757921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17E3C1-C43C-C2BC-B4BA-0C66F366A08C}"/>
              </a:ext>
            </a:extLst>
          </p:cNvPr>
          <p:cNvSpPr txBox="1"/>
          <p:nvPr/>
        </p:nvSpPr>
        <p:spPr>
          <a:xfrm>
            <a:off x="113773" y="5969509"/>
            <a:ext cx="51838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b="1" dirty="0" err="1">
                <a:latin typeface="Courier New" panose="02070309020205020404" pitchFamily="49" charset="0"/>
              </a:rPr>
              <a:t>fruits.pop</a:t>
            </a:r>
            <a:r>
              <a:rPr lang="en-GB" sz="2000" b="1" dirty="0">
                <a:latin typeface="Courier New" panose="02070309020205020404" pitchFamily="49" charset="0"/>
              </a:rPr>
              <a:t>()</a:t>
            </a:r>
            <a:endParaRPr lang="en-GB" sz="2000" b="1" dirty="0"/>
          </a:p>
          <a:p>
            <a:pPr>
              <a:buNone/>
            </a:pPr>
            <a:r>
              <a:rPr lang="en-GB" sz="2000" dirty="0"/>
              <a:t>With no index, </a:t>
            </a:r>
            <a:r>
              <a:rPr lang="en-GB" sz="2000" dirty="0">
                <a:latin typeface="Courier New" panose="02070309020205020404" pitchFamily="49" charset="0"/>
              </a:rPr>
              <a:t>pop()</a:t>
            </a:r>
            <a:r>
              <a:rPr lang="en-GB" sz="2000" dirty="0"/>
              <a:t> removes the </a:t>
            </a:r>
            <a:r>
              <a:rPr lang="en-GB" sz="2000" b="1" dirty="0"/>
              <a:t>last item</a:t>
            </a:r>
            <a:r>
              <a:rPr lang="en-GB" sz="20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382763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051D4C-41DA-93FA-1928-39808E12749D}"/>
              </a:ext>
            </a:extLst>
          </p:cNvPr>
          <p:cNvSpPr txBox="1"/>
          <p:nvPr/>
        </p:nvSpPr>
        <p:spPr>
          <a:xfrm>
            <a:off x="2095500" y="464235"/>
            <a:ext cx="8001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2400" b="1" dirty="0"/>
              <a:t>Remove a Specific Index</a:t>
            </a:r>
          </a:p>
          <a:p>
            <a:pPr algn="ctr">
              <a:buNone/>
            </a:pPr>
            <a:r>
              <a:rPr lang="en-GB" sz="2400" dirty="0"/>
              <a:t>We can also specify which position to remove: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EA190F2-869A-DDC0-E6B1-DA7224C842E3}"/>
              </a:ext>
            </a:extLst>
          </p:cNvPr>
          <p:cNvSpPr/>
          <p:nvPr/>
        </p:nvSpPr>
        <p:spPr>
          <a:xfrm>
            <a:off x="2522806" y="2089861"/>
            <a:ext cx="5835121" cy="249483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CCA7B27-2D40-E47F-0708-56F02E3F524A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0240AA7-4753-C0B0-48BA-4E02D86FAA3E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DF97567-BE70-30C6-DFFC-CE2ACA1CC8CF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D4679DD-C39A-D8BE-2008-80304304F4C9}"/>
              </a:ext>
            </a:extLst>
          </p:cNvPr>
          <p:cNvSpPr/>
          <p:nvPr/>
        </p:nvSpPr>
        <p:spPr>
          <a:xfrm>
            <a:off x="2778839" y="2565346"/>
            <a:ext cx="5453886" cy="189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removed = </a:t>
            </a:r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numbers.pop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(1)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print(numbers)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print(removed)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7FDE7-94FD-B4DA-AFC7-5DAAEED65F54}"/>
              </a:ext>
            </a:extLst>
          </p:cNvPr>
          <p:cNvSpPr txBox="1"/>
          <p:nvPr/>
        </p:nvSpPr>
        <p:spPr>
          <a:xfrm>
            <a:off x="3832520" y="5852934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[10, 30, 40]</a:t>
            </a:r>
          </a:p>
          <a:p>
            <a:pPr algn="ctr"/>
            <a:r>
              <a:rPr lang="en-ES" sz="2000" dirty="0">
                <a:solidFill>
                  <a:schemeClr val="bg1"/>
                </a:solidFill>
              </a:rPr>
              <a:t>20</a:t>
            </a:r>
          </a:p>
        </p:txBody>
      </p:sp>
      <p:sp>
        <p:nvSpPr>
          <p:cNvPr id="10" name="Striped Right Arrow 12">
            <a:extLst>
              <a:ext uri="{FF2B5EF4-FFF2-40B4-BE49-F238E27FC236}">
                <a16:creationId xmlns:a16="http://schemas.microsoft.com/office/drawing/2014/main" id="{9ED092E7-2E33-C13C-D91A-282212D9DE5B}"/>
              </a:ext>
            </a:extLst>
          </p:cNvPr>
          <p:cNvSpPr/>
          <p:nvPr/>
        </p:nvSpPr>
        <p:spPr>
          <a:xfrm rot="5400000">
            <a:off x="4994689" y="4945315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290146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F4F4E-328E-1474-6907-B9F9987AD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1F613F-BA6C-89B1-4362-084F12605D35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CC741A9E-04C8-2AB9-F937-F3011D3BC215}"/>
              </a:ext>
            </a:extLst>
          </p:cNvPr>
          <p:cNvSpPr/>
          <p:nvPr/>
        </p:nvSpPr>
        <p:spPr>
          <a:xfrm>
            <a:off x="2522806" y="2089861"/>
            <a:ext cx="5835121" cy="249483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DC67DECF-920D-5EA3-A6E4-760BC7660242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6E974D4F-380E-7EA1-0141-6EC6E29D4511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7B2446C-BB7A-545D-F0B6-9EE8631A73CE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A1874ED1-E476-C8D6-3759-9BF0033ED7DC}"/>
              </a:ext>
            </a:extLst>
          </p:cNvPr>
          <p:cNvSpPr/>
          <p:nvPr/>
        </p:nvSpPr>
        <p:spPr>
          <a:xfrm>
            <a:off x="2778839" y="2565346"/>
            <a:ext cx="5453886" cy="189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[70, 80, 90, 100]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 = </a:t>
            </a:r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scores.pop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(2)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print(scores)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print(value)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C4C57B-374B-E989-86E1-23E96E23D2F9}"/>
              </a:ext>
            </a:extLst>
          </p:cNvPr>
          <p:cNvSpPr txBox="1"/>
          <p:nvPr/>
        </p:nvSpPr>
        <p:spPr>
          <a:xfrm>
            <a:off x="3832520" y="5852934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2C03115F-4417-3045-4AA1-B2E9E4727629}"/>
              </a:ext>
            </a:extLst>
          </p:cNvPr>
          <p:cNvSpPr/>
          <p:nvPr/>
        </p:nvSpPr>
        <p:spPr>
          <a:xfrm rot="5400000">
            <a:off x="4994689" y="4945315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3DF7E-E667-8E5E-355C-39EBCBAFD946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will be printed?</a:t>
            </a:r>
          </a:p>
        </p:txBody>
      </p:sp>
    </p:spTree>
    <p:extLst>
      <p:ext uri="{BB962C8B-B14F-4D97-AF65-F5344CB8AC3E}">
        <p14:creationId xmlns:p14="http://schemas.microsoft.com/office/powerpoint/2010/main" val="38083566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62475-68DA-76AD-5965-AEB41E3DE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7F9BF8-F8E6-F320-F222-8A8E907BE588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5C4DF75F-13D1-DDEE-4DF7-C2035428289D}"/>
              </a:ext>
            </a:extLst>
          </p:cNvPr>
          <p:cNvSpPr/>
          <p:nvPr/>
        </p:nvSpPr>
        <p:spPr>
          <a:xfrm>
            <a:off x="2522806" y="2089861"/>
            <a:ext cx="5835121" cy="249483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7120EFAC-85D5-823B-7B73-04AC8BE7A2A8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86233C18-9471-5BF2-C2F6-CA8FEB2B81D4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3A9E4F3-F096-EB14-79CA-9C0E0CBF550E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546BEEAB-FD8D-DDB0-D3FE-76F5656058BB}"/>
              </a:ext>
            </a:extLst>
          </p:cNvPr>
          <p:cNvSpPr/>
          <p:nvPr/>
        </p:nvSpPr>
        <p:spPr>
          <a:xfrm>
            <a:off x="2778839" y="2565346"/>
            <a:ext cx="5453886" cy="18915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[70, 80, 90, 100]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value = </a:t>
            </a:r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scores.pop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(2)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print(scores)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print(value)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98A40-B99E-D712-DD41-EDF4B365B056}"/>
              </a:ext>
            </a:extLst>
          </p:cNvPr>
          <p:cNvSpPr txBox="1"/>
          <p:nvPr/>
        </p:nvSpPr>
        <p:spPr>
          <a:xfrm>
            <a:off x="3832520" y="5852934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[70, 80, 100]</a:t>
            </a:r>
          </a:p>
          <a:p>
            <a:pPr algn="ctr"/>
            <a:r>
              <a:rPr lang="en-ES" sz="2000" dirty="0">
                <a:solidFill>
                  <a:schemeClr val="bg1"/>
                </a:solidFill>
              </a:rPr>
              <a:t>90</a:t>
            </a: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D3715F0B-8FB1-6E04-4F25-AB3B9933CCF5}"/>
              </a:ext>
            </a:extLst>
          </p:cNvPr>
          <p:cNvSpPr/>
          <p:nvPr/>
        </p:nvSpPr>
        <p:spPr>
          <a:xfrm rot="5400000">
            <a:off x="4994689" y="4945315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B6B8C-AE4B-AA39-CD1E-0E41C0913F42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will be printed?</a:t>
            </a:r>
          </a:p>
        </p:txBody>
      </p:sp>
    </p:spTree>
    <p:extLst>
      <p:ext uri="{BB962C8B-B14F-4D97-AF65-F5344CB8AC3E}">
        <p14:creationId xmlns:p14="http://schemas.microsoft.com/office/powerpoint/2010/main" val="14002363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956DD-3B94-DF4C-C47A-69A62817A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A5DCD9-E146-AC54-102F-ED1635BC3960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Tracking List Changes</a:t>
            </a:r>
            <a:endParaRPr lang="en-US" sz="28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D51EC2C-82C2-1D50-227A-04554B05607E}"/>
              </a:ext>
            </a:extLst>
          </p:cNvPr>
          <p:cNvSpPr/>
          <p:nvPr/>
        </p:nvSpPr>
        <p:spPr>
          <a:xfrm>
            <a:off x="117311" y="2076601"/>
            <a:ext cx="4857026" cy="185631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1F8CACC-7BAD-08CE-52F8-E046CB36A8CF}"/>
              </a:ext>
            </a:extLst>
          </p:cNvPr>
          <p:cNvSpPr/>
          <p:nvPr/>
        </p:nvSpPr>
        <p:spPr>
          <a:xfrm>
            <a:off x="300191" y="224119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2E9B29D6-86A9-3B7D-0257-080872855C43}"/>
              </a:ext>
            </a:extLst>
          </p:cNvPr>
          <p:cNvSpPr/>
          <p:nvPr/>
        </p:nvSpPr>
        <p:spPr>
          <a:xfrm>
            <a:off x="464783" y="224119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E949D0C2-36CC-60A7-6F2D-DDEB717EEA8C}"/>
              </a:ext>
            </a:extLst>
          </p:cNvPr>
          <p:cNvSpPr/>
          <p:nvPr/>
        </p:nvSpPr>
        <p:spPr>
          <a:xfrm>
            <a:off x="629375" y="224119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0E0866D3-9E29-479C-EF3C-E659B4853561}"/>
              </a:ext>
            </a:extLst>
          </p:cNvPr>
          <p:cNvSpPr/>
          <p:nvPr/>
        </p:nvSpPr>
        <p:spPr>
          <a:xfrm>
            <a:off x="373343" y="2552086"/>
            <a:ext cx="4399825" cy="11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D7CC93-B8FF-FB30-8BB5-0071BBB3CC67}"/>
              </a:ext>
            </a:extLst>
          </p:cNvPr>
          <p:cNvSpPr txBox="1"/>
          <p:nvPr/>
        </p:nvSpPr>
        <p:spPr>
          <a:xfrm>
            <a:off x="464783" y="5053960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[10, 20, 30]</a:t>
            </a: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A44C1A84-9556-FE5B-681E-D73A22D19195}"/>
              </a:ext>
            </a:extLst>
          </p:cNvPr>
          <p:cNvSpPr/>
          <p:nvPr/>
        </p:nvSpPr>
        <p:spPr>
          <a:xfrm rot="5400000">
            <a:off x="1626952" y="4146341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3C894-4A90-BDC9-1BB5-A9B6FE00752C}"/>
              </a:ext>
            </a:extLst>
          </p:cNvPr>
          <p:cNvSpPr txBox="1"/>
          <p:nvPr/>
        </p:nvSpPr>
        <p:spPr>
          <a:xfrm>
            <a:off x="757828" y="1310511"/>
            <a:ext cx="106340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Let’s combine </a:t>
            </a:r>
            <a:r>
              <a:rPr lang="en-GB" sz="2000" b="1" dirty="0"/>
              <a:t>item assignment</a:t>
            </a:r>
            <a:r>
              <a:rPr lang="en-GB" sz="2000" dirty="0"/>
              <a:t>, append(), and pop().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D1756B8-0294-0148-4BA6-F11837F9ACAD}"/>
              </a:ext>
            </a:extLst>
          </p:cNvPr>
          <p:cNvSpPr/>
          <p:nvPr/>
        </p:nvSpPr>
        <p:spPr>
          <a:xfrm>
            <a:off x="6056688" y="2076601"/>
            <a:ext cx="5835121" cy="195699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BC9CA37-17E2-6141-B52B-8749CB36F497}"/>
              </a:ext>
            </a:extLst>
          </p:cNvPr>
          <p:cNvSpPr/>
          <p:nvPr/>
        </p:nvSpPr>
        <p:spPr>
          <a:xfrm>
            <a:off x="6239569" y="224119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788F0E18-0115-5F6A-EA04-2EE98C4A4BD9}"/>
              </a:ext>
            </a:extLst>
          </p:cNvPr>
          <p:cNvSpPr/>
          <p:nvPr/>
        </p:nvSpPr>
        <p:spPr>
          <a:xfrm>
            <a:off x="6404161" y="224119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B4526A47-EB4D-5C0A-BECC-4304BEEBED4C}"/>
              </a:ext>
            </a:extLst>
          </p:cNvPr>
          <p:cNvSpPr/>
          <p:nvPr/>
        </p:nvSpPr>
        <p:spPr>
          <a:xfrm>
            <a:off x="6568753" y="224119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C4C7FB2B-839B-1C68-B105-18D55CEFF300}"/>
              </a:ext>
            </a:extLst>
          </p:cNvPr>
          <p:cNvSpPr/>
          <p:nvPr/>
        </p:nvSpPr>
        <p:spPr>
          <a:xfrm>
            <a:off x="6312721" y="2552086"/>
            <a:ext cx="5453886" cy="13808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numbers[1] = 25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065C47-1509-BFFD-3490-70505C26FD5D}"/>
              </a:ext>
            </a:extLst>
          </p:cNvPr>
          <p:cNvSpPr txBox="1"/>
          <p:nvPr/>
        </p:nvSpPr>
        <p:spPr>
          <a:xfrm>
            <a:off x="7341002" y="534641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[10, 2</a:t>
            </a:r>
            <a:r>
              <a:rPr lang="en-US" sz="2000" dirty="0">
                <a:solidFill>
                  <a:schemeClr val="bg1"/>
                </a:solidFill>
              </a:rPr>
              <a:t>5</a:t>
            </a:r>
            <a:r>
              <a:rPr lang="en-ES" sz="2000" dirty="0">
                <a:solidFill>
                  <a:schemeClr val="bg1"/>
                </a:solidFill>
              </a:rPr>
              <a:t>, 30]</a:t>
            </a:r>
          </a:p>
        </p:txBody>
      </p:sp>
      <p:sp>
        <p:nvSpPr>
          <p:cNvPr id="24" name="Striped Right Arrow 12">
            <a:extLst>
              <a:ext uri="{FF2B5EF4-FFF2-40B4-BE49-F238E27FC236}">
                <a16:creationId xmlns:a16="http://schemas.microsoft.com/office/drawing/2014/main" id="{300D59E9-47CE-8C87-AA2C-5E8272597922}"/>
              </a:ext>
            </a:extLst>
          </p:cNvPr>
          <p:cNvSpPr/>
          <p:nvPr/>
        </p:nvSpPr>
        <p:spPr>
          <a:xfrm rot="5400000">
            <a:off x="8503171" y="443879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111786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4DEB6-5DBE-69A3-2197-60585B43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C8888C-403C-4C34-6412-394C6159BB6F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3CC64305-DFE9-A665-30DD-CCB49D805562}"/>
              </a:ext>
            </a:extLst>
          </p:cNvPr>
          <p:cNvSpPr/>
          <p:nvPr/>
        </p:nvSpPr>
        <p:spPr>
          <a:xfrm>
            <a:off x="2522806" y="2089861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CA7AD7C4-EFBD-7E45-D458-ED6FEE4C96BF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791EF03-B142-5AF5-F62E-9E84A9E098ED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0F85E6B9-B7A9-2527-0867-CA16C4919428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4A74C57-2351-34B6-4EF3-A7F12BEAD9B8}"/>
              </a:ext>
            </a:extLst>
          </p:cNvPr>
          <p:cNvSpPr/>
          <p:nvPr/>
        </p:nvSpPr>
        <p:spPr>
          <a:xfrm>
            <a:off x="2778839" y="2565346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items = [1, 2, 3]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items.append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(4)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items[0] = 10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items.pop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print(items)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A4F2A-97D8-17B1-CD6D-8C82C354648F}"/>
              </a:ext>
            </a:extLst>
          </p:cNvPr>
          <p:cNvSpPr txBox="1"/>
          <p:nvPr/>
        </p:nvSpPr>
        <p:spPr>
          <a:xfrm>
            <a:off x="3807120" y="6055496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18C417E8-F2E4-8BC0-C949-283F3605988A}"/>
              </a:ext>
            </a:extLst>
          </p:cNvPr>
          <p:cNvSpPr/>
          <p:nvPr/>
        </p:nvSpPr>
        <p:spPr>
          <a:xfrm rot="5400000">
            <a:off x="5078777" y="524778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06FF8-2D57-F824-DC8C-3F7B0F323462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is the final list?</a:t>
            </a:r>
          </a:p>
        </p:txBody>
      </p:sp>
    </p:spTree>
    <p:extLst>
      <p:ext uri="{BB962C8B-B14F-4D97-AF65-F5344CB8AC3E}">
        <p14:creationId xmlns:p14="http://schemas.microsoft.com/office/powerpoint/2010/main" val="29306123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BA79A-B9E2-E373-BD8E-E726852F9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738727-DD46-83A8-511B-1970F07BA25C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F6CED06-3497-949C-A49E-EBCD8F6DA503}"/>
              </a:ext>
            </a:extLst>
          </p:cNvPr>
          <p:cNvSpPr/>
          <p:nvPr/>
        </p:nvSpPr>
        <p:spPr>
          <a:xfrm>
            <a:off x="2522806" y="2089861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9F84694-CBC5-66BA-CEA2-A47B81C305A8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594116BE-2861-801C-EC3A-93E24EFE0ABD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3FD208D4-41E6-4139-E740-4324E45B092F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4FDD9CB4-75CA-8A94-0B74-A284388AAD6C}"/>
              </a:ext>
            </a:extLst>
          </p:cNvPr>
          <p:cNvSpPr/>
          <p:nvPr/>
        </p:nvSpPr>
        <p:spPr>
          <a:xfrm>
            <a:off x="2778839" y="2565346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items = [1, 2, 3]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items.append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(4)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items[0] = 10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items.pop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print(items)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DC2B2B-CE23-EC06-013B-E8F53E599965}"/>
              </a:ext>
            </a:extLst>
          </p:cNvPr>
          <p:cNvSpPr txBox="1"/>
          <p:nvPr/>
        </p:nvSpPr>
        <p:spPr>
          <a:xfrm>
            <a:off x="3807120" y="6055496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[10, 2, 3]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2E55CC5E-0E92-C3BA-5EA2-64B2449BF64B}"/>
              </a:ext>
            </a:extLst>
          </p:cNvPr>
          <p:cNvSpPr/>
          <p:nvPr/>
        </p:nvSpPr>
        <p:spPr>
          <a:xfrm rot="5400000">
            <a:off x="5078777" y="524778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6B9DD6-67D8-6A43-23BF-651E4BDBDDC6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What is the final list?</a:t>
            </a:r>
          </a:p>
        </p:txBody>
      </p:sp>
    </p:spTree>
    <p:extLst>
      <p:ext uri="{BB962C8B-B14F-4D97-AF65-F5344CB8AC3E}">
        <p14:creationId xmlns:p14="http://schemas.microsoft.com/office/powerpoint/2010/main" val="10988141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275D96-1150-7B0A-07D1-095AF9644C89}"/>
              </a:ext>
            </a:extLst>
          </p:cNvPr>
          <p:cNvSpPr txBox="1"/>
          <p:nvPr/>
        </p:nvSpPr>
        <p:spPr>
          <a:xfrm>
            <a:off x="3046476" y="373118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Variables Store References to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4D4D9-68AD-2D27-9365-21CFBD455974}"/>
              </a:ext>
            </a:extLst>
          </p:cNvPr>
          <p:cNvSpPr txBox="1"/>
          <p:nvPr/>
        </p:nvSpPr>
        <p:spPr>
          <a:xfrm>
            <a:off x="433137" y="1058779"/>
            <a:ext cx="114219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When we create a list, Python creates a list object in memory.</a:t>
            </a:r>
          </a:p>
          <a:p>
            <a:pPr>
              <a:buNone/>
            </a:pPr>
            <a:r>
              <a:rPr lang="en-US" dirty="0"/>
              <a:t>The variable does not directly contain all the list items. Instead, it refers to the list object.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1AD91AC-9875-84AB-9520-9118A7F52A5C}"/>
              </a:ext>
            </a:extLst>
          </p:cNvPr>
          <p:cNvSpPr/>
          <p:nvPr/>
        </p:nvSpPr>
        <p:spPr>
          <a:xfrm>
            <a:off x="300191" y="2378292"/>
            <a:ext cx="4857026" cy="185631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3947B31-CD31-3ED2-E79D-D41F0FD05A54}"/>
              </a:ext>
            </a:extLst>
          </p:cNvPr>
          <p:cNvSpPr/>
          <p:nvPr/>
        </p:nvSpPr>
        <p:spPr>
          <a:xfrm>
            <a:off x="483071" y="2542883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4146448-CF95-F56E-636D-F653A5E543EC}"/>
              </a:ext>
            </a:extLst>
          </p:cNvPr>
          <p:cNvSpPr/>
          <p:nvPr/>
        </p:nvSpPr>
        <p:spPr>
          <a:xfrm>
            <a:off x="647663" y="2542883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9244E4EA-997B-5D3A-2996-A3303ABF56D5}"/>
              </a:ext>
            </a:extLst>
          </p:cNvPr>
          <p:cNvSpPr/>
          <p:nvPr/>
        </p:nvSpPr>
        <p:spPr>
          <a:xfrm>
            <a:off x="812255" y="2542883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780AF10-D344-BA6E-46B7-D3A34DD38430}"/>
              </a:ext>
            </a:extLst>
          </p:cNvPr>
          <p:cNvSpPr/>
          <p:nvPr/>
        </p:nvSpPr>
        <p:spPr>
          <a:xfrm>
            <a:off x="556223" y="2853777"/>
            <a:ext cx="4399825" cy="11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30]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5CA1607-2CA5-E36A-C3E2-FB971C01C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855" y="1933903"/>
            <a:ext cx="6221726" cy="2664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255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03D6E3F-7985-F819-CE0E-8F7FCA1AAA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6612351"/>
              </p:ext>
            </p:extLst>
          </p:nvPr>
        </p:nvGraphicFramePr>
        <p:xfrm>
          <a:off x="417095" y="545432"/>
          <a:ext cx="11389894" cy="213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hape 4">
            <a:extLst>
              <a:ext uri="{FF2B5EF4-FFF2-40B4-BE49-F238E27FC236}">
                <a16:creationId xmlns:a16="http://schemas.microsoft.com/office/drawing/2014/main" id="{F2AC88A6-6C0D-6E7D-6912-89A24C622E90}"/>
              </a:ext>
            </a:extLst>
          </p:cNvPr>
          <p:cNvSpPr/>
          <p:nvPr/>
        </p:nvSpPr>
        <p:spPr>
          <a:xfrm>
            <a:off x="117311" y="3197645"/>
            <a:ext cx="4857026" cy="185631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D85B1B6-F5E1-7FB2-482E-DB6EC6C366E8}"/>
              </a:ext>
            </a:extLst>
          </p:cNvPr>
          <p:cNvSpPr/>
          <p:nvPr/>
        </p:nvSpPr>
        <p:spPr>
          <a:xfrm>
            <a:off x="300191" y="3362236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59E2BF6B-FDF3-F104-623C-A9AF67CC002D}"/>
              </a:ext>
            </a:extLst>
          </p:cNvPr>
          <p:cNvSpPr/>
          <p:nvPr/>
        </p:nvSpPr>
        <p:spPr>
          <a:xfrm>
            <a:off x="464783" y="3362236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FFC6208B-D8FE-C048-07E2-62B658B74DFA}"/>
              </a:ext>
            </a:extLst>
          </p:cNvPr>
          <p:cNvSpPr/>
          <p:nvPr/>
        </p:nvSpPr>
        <p:spPr>
          <a:xfrm>
            <a:off x="629375" y="3362236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5110F8A7-4F7D-F0E1-EA00-2EAA4FE8173D}"/>
              </a:ext>
            </a:extLst>
          </p:cNvPr>
          <p:cNvSpPr/>
          <p:nvPr/>
        </p:nvSpPr>
        <p:spPr>
          <a:xfrm>
            <a:off x="373343" y="3673130"/>
            <a:ext cx="4399825" cy="11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numbers[1] = 99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3A2D31-E418-186E-AA72-F21610969E8E}"/>
              </a:ext>
            </a:extLst>
          </p:cNvPr>
          <p:cNvSpPr txBox="1"/>
          <p:nvPr/>
        </p:nvSpPr>
        <p:spPr>
          <a:xfrm>
            <a:off x="464783" y="6175004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ES" sz="2000" dirty="0">
                <a:solidFill>
                  <a:schemeClr val="bg1"/>
                </a:solidFill>
              </a:rPr>
              <a:t>[10, 99, 30]</a:t>
            </a:r>
          </a:p>
        </p:txBody>
      </p:sp>
      <p:sp>
        <p:nvSpPr>
          <p:cNvPr id="18" name="Striped Right Arrow 12">
            <a:extLst>
              <a:ext uri="{FF2B5EF4-FFF2-40B4-BE49-F238E27FC236}">
                <a16:creationId xmlns:a16="http://schemas.microsoft.com/office/drawing/2014/main" id="{30838B30-F4BE-2127-71C5-8E02E0C17E7E}"/>
              </a:ext>
            </a:extLst>
          </p:cNvPr>
          <p:cNvSpPr/>
          <p:nvPr/>
        </p:nvSpPr>
        <p:spPr>
          <a:xfrm rot="5400000">
            <a:off x="1626952" y="5267385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BCB1D-F079-B1AE-9A79-AAA7D405B91B}"/>
              </a:ext>
            </a:extLst>
          </p:cNvPr>
          <p:cNvSpPr txBox="1"/>
          <p:nvPr/>
        </p:nvSpPr>
        <p:spPr>
          <a:xfrm>
            <a:off x="5230369" y="3197644"/>
            <a:ext cx="66614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The list object changes, but </a:t>
            </a:r>
            <a:r>
              <a:rPr lang="en-US" sz="2000" dirty="0">
                <a:latin typeface="+mn-lt"/>
              </a:rPr>
              <a:t>numbers</a:t>
            </a:r>
            <a:r>
              <a:rPr lang="en-US" sz="2000" dirty="0"/>
              <a:t> still refers to the same list object.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Key Takeaway</a:t>
            </a:r>
          </a:p>
          <a:p>
            <a:pPr>
              <a:buNone/>
            </a:pPr>
            <a:r>
              <a:rPr lang="en-US" sz="2000" dirty="0"/>
              <a:t>A list variable refers to a list object. Modifying the list changes that object, not the reference itself.</a:t>
            </a:r>
          </a:p>
        </p:txBody>
      </p:sp>
    </p:spTree>
    <p:extLst>
      <p:ext uri="{BB962C8B-B14F-4D97-AF65-F5344CB8AC3E}">
        <p14:creationId xmlns:p14="http://schemas.microsoft.com/office/powerpoint/2010/main" val="9045411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DC0706-4D8E-88CE-1908-BDA43B9E7214}"/>
              </a:ext>
            </a:extLst>
          </p:cNvPr>
          <p:cNvSpPr txBox="1"/>
          <p:nvPr/>
        </p:nvSpPr>
        <p:spPr>
          <a:xfrm>
            <a:off x="3048000" y="58535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Think About It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26B76FE-754D-F3A8-F4A7-E2782E8C314D}"/>
              </a:ext>
            </a:extLst>
          </p:cNvPr>
          <p:cNvSpPr/>
          <p:nvPr/>
        </p:nvSpPr>
        <p:spPr>
          <a:xfrm>
            <a:off x="3391453" y="1654368"/>
            <a:ext cx="4857026" cy="185631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EDCF923-3912-4492-5F9A-ADF303FA1435}"/>
              </a:ext>
            </a:extLst>
          </p:cNvPr>
          <p:cNvSpPr/>
          <p:nvPr/>
        </p:nvSpPr>
        <p:spPr>
          <a:xfrm>
            <a:off x="3574333" y="1818959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0420CDB1-5926-B3D5-0B36-E01AD63FF58E}"/>
              </a:ext>
            </a:extLst>
          </p:cNvPr>
          <p:cNvSpPr/>
          <p:nvPr/>
        </p:nvSpPr>
        <p:spPr>
          <a:xfrm>
            <a:off x="3738925" y="1818959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B4E19DDC-B895-20FB-5D53-971282555A49}"/>
              </a:ext>
            </a:extLst>
          </p:cNvPr>
          <p:cNvSpPr/>
          <p:nvPr/>
        </p:nvSpPr>
        <p:spPr>
          <a:xfrm>
            <a:off x="3903517" y="1818959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9858DEC-A7E1-A768-5B14-6AF6145FCDF4}"/>
              </a:ext>
            </a:extLst>
          </p:cNvPr>
          <p:cNvSpPr/>
          <p:nvPr/>
        </p:nvSpPr>
        <p:spPr>
          <a:xfrm>
            <a:off x="3647485" y="2129853"/>
            <a:ext cx="4399825" cy="11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[10, 20, 30]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AE220B-A852-0917-F879-D951A031475F}"/>
              </a:ext>
            </a:extLst>
          </p:cNvPr>
          <p:cNvSpPr txBox="1"/>
          <p:nvPr/>
        </p:nvSpPr>
        <p:spPr>
          <a:xfrm>
            <a:off x="4181377" y="4631727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7" name="Striped Right Arrow 12">
            <a:extLst>
              <a:ext uri="{FF2B5EF4-FFF2-40B4-BE49-F238E27FC236}">
                <a16:creationId xmlns:a16="http://schemas.microsoft.com/office/drawing/2014/main" id="{A7E5BE9F-4D6C-4B29-607F-01252E40A123}"/>
              </a:ext>
            </a:extLst>
          </p:cNvPr>
          <p:cNvSpPr/>
          <p:nvPr/>
        </p:nvSpPr>
        <p:spPr>
          <a:xfrm rot="5400000">
            <a:off x="5343546" y="3724108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39341B-B782-4180-EFFC-0F94953073E1}"/>
              </a:ext>
            </a:extLst>
          </p:cNvPr>
          <p:cNvSpPr txBox="1"/>
          <p:nvPr/>
        </p:nvSpPr>
        <p:spPr>
          <a:xfrm>
            <a:off x="342224" y="5617641"/>
            <a:ext cx="11028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Question: Does Python create a second list, or do both variables refer to the same list?</a:t>
            </a:r>
          </a:p>
        </p:txBody>
      </p:sp>
    </p:spTree>
    <p:extLst>
      <p:ext uri="{BB962C8B-B14F-4D97-AF65-F5344CB8AC3E}">
        <p14:creationId xmlns:p14="http://schemas.microsoft.com/office/powerpoint/2010/main" val="7178630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92ED3-E321-43AD-53BB-975F49014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05A3E2-0484-06BE-E844-5B14637B6AC4}"/>
              </a:ext>
            </a:extLst>
          </p:cNvPr>
          <p:cNvSpPr txBox="1"/>
          <p:nvPr/>
        </p:nvSpPr>
        <p:spPr>
          <a:xfrm>
            <a:off x="3048000" y="58535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Aliasing: Two Variables, One List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32B51EF-54E5-FCF7-E055-278A7B722BC5}"/>
              </a:ext>
            </a:extLst>
          </p:cNvPr>
          <p:cNvSpPr/>
          <p:nvPr/>
        </p:nvSpPr>
        <p:spPr>
          <a:xfrm>
            <a:off x="342224" y="2091750"/>
            <a:ext cx="4857026" cy="1856315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E862FDC-B004-B6A0-FD2B-A95461C62A86}"/>
              </a:ext>
            </a:extLst>
          </p:cNvPr>
          <p:cNvSpPr/>
          <p:nvPr/>
        </p:nvSpPr>
        <p:spPr>
          <a:xfrm>
            <a:off x="525104" y="2256341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50EEC50-77E4-4466-AB18-BE17991E8799}"/>
              </a:ext>
            </a:extLst>
          </p:cNvPr>
          <p:cNvSpPr/>
          <p:nvPr/>
        </p:nvSpPr>
        <p:spPr>
          <a:xfrm>
            <a:off x="689696" y="2256341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4A7A674-6235-C009-3BFF-27E7C3991F8E}"/>
              </a:ext>
            </a:extLst>
          </p:cNvPr>
          <p:cNvSpPr/>
          <p:nvPr/>
        </p:nvSpPr>
        <p:spPr>
          <a:xfrm>
            <a:off x="854288" y="2256341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0E08672-E241-C980-3919-414EF3619F92}"/>
              </a:ext>
            </a:extLst>
          </p:cNvPr>
          <p:cNvSpPr/>
          <p:nvPr/>
        </p:nvSpPr>
        <p:spPr>
          <a:xfrm>
            <a:off x="598256" y="2567235"/>
            <a:ext cx="4399825" cy="11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[10, 20, 30]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4DB801-30C4-32A8-15B5-FC91ED97AD7F}"/>
              </a:ext>
            </a:extLst>
          </p:cNvPr>
          <p:cNvSpPr txBox="1"/>
          <p:nvPr/>
        </p:nvSpPr>
        <p:spPr>
          <a:xfrm>
            <a:off x="1132148" y="5069109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[99, 20, 30]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[99, 20, 30]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7" name="Striped Right Arrow 12">
            <a:extLst>
              <a:ext uri="{FF2B5EF4-FFF2-40B4-BE49-F238E27FC236}">
                <a16:creationId xmlns:a16="http://schemas.microsoft.com/office/drawing/2014/main" id="{C6D91CDB-E27A-19DF-89F8-3690889A321D}"/>
              </a:ext>
            </a:extLst>
          </p:cNvPr>
          <p:cNvSpPr/>
          <p:nvPr/>
        </p:nvSpPr>
        <p:spPr>
          <a:xfrm rot="5400000">
            <a:off x="2294317" y="4161490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5C5095-E3CC-3850-3D9C-1F1939CEA1C6}"/>
              </a:ext>
            </a:extLst>
          </p:cNvPr>
          <p:cNvSpPr txBox="1"/>
          <p:nvPr/>
        </p:nvSpPr>
        <p:spPr>
          <a:xfrm>
            <a:off x="342223" y="1273167"/>
            <a:ext cx="11515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Aliasing occurs when two or more variables refer to the same object in memory.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DB8A5E-E553-32FA-2D75-1CE35EDCE199}"/>
              </a:ext>
            </a:extLst>
          </p:cNvPr>
          <p:cNvSpPr txBox="1"/>
          <p:nvPr/>
        </p:nvSpPr>
        <p:spPr>
          <a:xfrm>
            <a:off x="5455281" y="2070275"/>
            <a:ext cx="65499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Does Python create two separate lists?</a:t>
            </a:r>
          </a:p>
          <a:p>
            <a:pPr>
              <a:buNone/>
            </a:pPr>
            <a:r>
              <a:rPr lang="en-US" sz="2000" dirty="0"/>
              <a:t>No! Both </a:t>
            </a:r>
            <a:r>
              <a:rPr lang="en-US" sz="2000" dirty="0">
                <a:latin typeface="+mn-lt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+mn-lt"/>
              </a:rPr>
              <a:t>b</a:t>
            </a:r>
            <a:r>
              <a:rPr lang="en-US" sz="2000" dirty="0"/>
              <a:t> refer to the same list object.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DC3B95-A015-E321-4E3A-26281A5F2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280" y="2776201"/>
            <a:ext cx="6394495" cy="335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9242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B1E91B-0479-EC26-5CAB-EE2F518B4D23}"/>
              </a:ext>
            </a:extLst>
          </p:cNvPr>
          <p:cNvSpPr txBox="1"/>
          <p:nvPr/>
        </p:nvSpPr>
        <p:spPr>
          <a:xfrm>
            <a:off x="733732" y="427392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Happens If We Change </a:t>
            </a:r>
            <a:r>
              <a:rPr lang="en-US" sz="2400" dirty="0">
                <a:latin typeface="+mn-lt"/>
              </a:rPr>
              <a:t>b</a:t>
            </a:r>
            <a:r>
              <a:rPr lang="en-US" sz="2400" dirty="0"/>
              <a:t>?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B3ACE1CD-F34E-E688-5093-470B37688073}"/>
              </a:ext>
            </a:extLst>
          </p:cNvPr>
          <p:cNvSpPr/>
          <p:nvPr/>
        </p:nvSpPr>
        <p:spPr>
          <a:xfrm>
            <a:off x="342224" y="2091750"/>
            <a:ext cx="4857026" cy="2540607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94F53DD-954A-F591-D837-8504D2B2F9A3}"/>
              </a:ext>
            </a:extLst>
          </p:cNvPr>
          <p:cNvSpPr/>
          <p:nvPr/>
        </p:nvSpPr>
        <p:spPr>
          <a:xfrm>
            <a:off x="525104" y="2256341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FE09538-A82E-21E3-6236-1C2256272928}"/>
              </a:ext>
            </a:extLst>
          </p:cNvPr>
          <p:cNvSpPr/>
          <p:nvPr/>
        </p:nvSpPr>
        <p:spPr>
          <a:xfrm>
            <a:off x="689696" y="2256341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6443A6B2-3BAE-551E-4A8B-80F3F596E080}"/>
              </a:ext>
            </a:extLst>
          </p:cNvPr>
          <p:cNvSpPr/>
          <p:nvPr/>
        </p:nvSpPr>
        <p:spPr>
          <a:xfrm>
            <a:off x="854288" y="2256341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143994B-A7AE-8A78-35D2-283B77C8A69B}"/>
              </a:ext>
            </a:extLst>
          </p:cNvPr>
          <p:cNvSpPr/>
          <p:nvPr/>
        </p:nvSpPr>
        <p:spPr>
          <a:xfrm>
            <a:off x="598256" y="2567234"/>
            <a:ext cx="4399825" cy="20651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[10, 20, 30]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</a:t>
            </a:r>
          </a:p>
          <a:p>
            <a:endParaRPr lang="pt-B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b[0] = 99</a:t>
            </a:r>
          </a:p>
          <a:p>
            <a:endParaRPr lang="pt-B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print(a)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print(b)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A01A9B-C9BC-C189-79CB-2E4049887B82}"/>
              </a:ext>
            </a:extLst>
          </p:cNvPr>
          <p:cNvSpPr txBox="1"/>
          <p:nvPr/>
        </p:nvSpPr>
        <p:spPr>
          <a:xfrm>
            <a:off x="1132148" y="5945173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7" name="Striped Right Arrow 12">
            <a:extLst>
              <a:ext uri="{FF2B5EF4-FFF2-40B4-BE49-F238E27FC236}">
                <a16:creationId xmlns:a16="http://schemas.microsoft.com/office/drawing/2014/main" id="{1A887259-72A1-1217-3BB6-A4E66288634B}"/>
              </a:ext>
            </a:extLst>
          </p:cNvPr>
          <p:cNvSpPr/>
          <p:nvPr/>
        </p:nvSpPr>
        <p:spPr>
          <a:xfrm rot="5400000">
            <a:off x="2294317" y="5037554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8192159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89E55-43AF-26E4-D967-A0BB9865C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99E7F0-4E09-6D8E-5DB3-00F5961C8054}"/>
              </a:ext>
            </a:extLst>
          </p:cNvPr>
          <p:cNvSpPr txBox="1"/>
          <p:nvPr/>
        </p:nvSpPr>
        <p:spPr>
          <a:xfrm>
            <a:off x="733732" y="427392"/>
            <a:ext cx="5359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What Happens If We Change </a:t>
            </a:r>
            <a:r>
              <a:rPr lang="en-US" sz="2400" dirty="0">
                <a:latin typeface="+mn-lt"/>
              </a:rPr>
              <a:t>b</a:t>
            </a:r>
            <a:r>
              <a:rPr lang="en-US" sz="2400" dirty="0"/>
              <a:t>?</a:t>
            </a: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A8C465E-55A1-8B52-D1EF-6B4365BE3477}"/>
              </a:ext>
            </a:extLst>
          </p:cNvPr>
          <p:cNvSpPr/>
          <p:nvPr/>
        </p:nvSpPr>
        <p:spPr>
          <a:xfrm>
            <a:off x="342224" y="2091750"/>
            <a:ext cx="4857026" cy="2540607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6C199D2-3D9F-D00C-ECE3-FC879AE5F13D}"/>
              </a:ext>
            </a:extLst>
          </p:cNvPr>
          <p:cNvSpPr/>
          <p:nvPr/>
        </p:nvSpPr>
        <p:spPr>
          <a:xfrm>
            <a:off x="525104" y="2256341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346358BE-C19C-A18B-D911-71F71D688A84}"/>
              </a:ext>
            </a:extLst>
          </p:cNvPr>
          <p:cNvSpPr/>
          <p:nvPr/>
        </p:nvSpPr>
        <p:spPr>
          <a:xfrm>
            <a:off x="689696" y="2256341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246ED4EB-7D4E-FD0E-49F4-2C22839FD151}"/>
              </a:ext>
            </a:extLst>
          </p:cNvPr>
          <p:cNvSpPr/>
          <p:nvPr/>
        </p:nvSpPr>
        <p:spPr>
          <a:xfrm>
            <a:off x="854288" y="2256341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29B7799-B3B9-0F33-29B7-1838A0C1224A}"/>
              </a:ext>
            </a:extLst>
          </p:cNvPr>
          <p:cNvSpPr/>
          <p:nvPr/>
        </p:nvSpPr>
        <p:spPr>
          <a:xfrm>
            <a:off x="598256" y="2567234"/>
            <a:ext cx="4399825" cy="20651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[10, 20, 30]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</a:t>
            </a:r>
          </a:p>
          <a:p>
            <a:endParaRPr lang="pt-B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b[0] = 99</a:t>
            </a:r>
          </a:p>
          <a:p>
            <a:endParaRPr lang="pt-B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print(a)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print(b)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F00F26-2277-BC99-5F3C-00C96F5FC189}"/>
              </a:ext>
            </a:extLst>
          </p:cNvPr>
          <p:cNvSpPr txBox="1"/>
          <p:nvPr/>
        </p:nvSpPr>
        <p:spPr>
          <a:xfrm>
            <a:off x="1132148" y="5945173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[99, 20, 30]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[99, 20, 30]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7" name="Striped Right Arrow 12">
            <a:extLst>
              <a:ext uri="{FF2B5EF4-FFF2-40B4-BE49-F238E27FC236}">
                <a16:creationId xmlns:a16="http://schemas.microsoft.com/office/drawing/2014/main" id="{94F1BAB1-34E4-0C77-5F9C-5BD938E4AA17}"/>
              </a:ext>
            </a:extLst>
          </p:cNvPr>
          <p:cNvSpPr/>
          <p:nvPr/>
        </p:nvSpPr>
        <p:spPr>
          <a:xfrm rot="5400000">
            <a:off x="2294317" y="5037554"/>
            <a:ext cx="876064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FE7F4-1E8B-FE06-651E-BB0539614D49}"/>
              </a:ext>
            </a:extLst>
          </p:cNvPr>
          <p:cNvSpPr txBox="1"/>
          <p:nvPr/>
        </p:nvSpPr>
        <p:spPr>
          <a:xfrm>
            <a:off x="6093542" y="427081"/>
            <a:ext cx="59706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Why Did Both Change?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BF8C55-58A9-E488-1BD3-F53AC35F7172}"/>
              </a:ext>
            </a:extLst>
          </p:cNvPr>
          <p:cNvSpPr txBox="1"/>
          <p:nvPr/>
        </p:nvSpPr>
        <p:spPr>
          <a:xfrm>
            <a:off x="6098458" y="1473020"/>
            <a:ext cx="59657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Because </a:t>
            </a:r>
            <a:r>
              <a:rPr lang="en-US" sz="2000" dirty="0">
                <a:latin typeface="+mn-lt"/>
              </a:rPr>
              <a:t>a</a:t>
            </a:r>
            <a:r>
              <a:rPr lang="en-US" sz="2000" dirty="0"/>
              <a:t> and </a:t>
            </a:r>
            <a:r>
              <a:rPr lang="en-US" sz="2000" dirty="0">
                <a:latin typeface="+mn-lt"/>
              </a:rPr>
              <a:t>b</a:t>
            </a:r>
            <a:r>
              <a:rPr lang="en-US" sz="2000" dirty="0"/>
              <a:t> refer to the same list. Changing the list through </a:t>
            </a:r>
            <a:r>
              <a:rPr lang="en-US" sz="2000" dirty="0">
                <a:latin typeface="+mn-lt"/>
              </a:rPr>
              <a:t>b</a:t>
            </a:r>
            <a:r>
              <a:rPr lang="en-US" sz="2000" dirty="0"/>
              <a:t> is also visible through </a:t>
            </a:r>
            <a:r>
              <a:rPr lang="en-US" sz="2000" dirty="0">
                <a:latin typeface="+mn-lt"/>
              </a:rPr>
              <a:t>a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/>
              <a:t>Important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9A8481A4-2379-CF6C-663C-A43F8969339C}"/>
              </a:ext>
            </a:extLst>
          </p:cNvPr>
          <p:cNvSpPr/>
          <p:nvPr/>
        </p:nvSpPr>
        <p:spPr>
          <a:xfrm>
            <a:off x="6202826" y="2828135"/>
            <a:ext cx="4857026" cy="1233407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B66C1050-BB38-040A-9625-622797517129}"/>
              </a:ext>
            </a:extLst>
          </p:cNvPr>
          <p:cNvSpPr/>
          <p:nvPr/>
        </p:nvSpPr>
        <p:spPr>
          <a:xfrm>
            <a:off x="6385706" y="2992726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41A197B7-A1FD-7827-E60A-4CAD36970DFF}"/>
              </a:ext>
            </a:extLst>
          </p:cNvPr>
          <p:cNvSpPr/>
          <p:nvPr/>
        </p:nvSpPr>
        <p:spPr>
          <a:xfrm>
            <a:off x="6550298" y="2992726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DEE9CDE6-87F7-8C61-6973-92AEAD05F606}"/>
              </a:ext>
            </a:extLst>
          </p:cNvPr>
          <p:cNvSpPr/>
          <p:nvPr/>
        </p:nvSpPr>
        <p:spPr>
          <a:xfrm>
            <a:off x="6714890" y="2992726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D7AE413A-EDC7-6185-D63F-594F7F385CC1}"/>
              </a:ext>
            </a:extLst>
          </p:cNvPr>
          <p:cNvSpPr/>
          <p:nvPr/>
        </p:nvSpPr>
        <p:spPr>
          <a:xfrm>
            <a:off x="6458858" y="3303620"/>
            <a:ext cx="4399825" cy="4245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CC34B0-55B4-53FA-657B-ECDA8B2A3461}"/>
              </a:ext>
            </a:extLst>
          </p:cNvPr>
          <p:cNvSpPr txBox="1"/>
          <p:nvPr/>
        </p:nvSpPr>
        <p:spPr>
          <a:xfrm>
            <a:off x="6098458" y="4856809"/>
            <a:ext cx="596572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does not copy the list. It creates another reference to the same object.</a:t>
            </a:r>
          </a:p>
        </p:txBody>
      </p:sp>
    </p:spTree>
    <p:extLst>
      <p:ext uri="{BB962C8B-B14F-4D97-AF65-F5344CB8AC3E}">
        <p14:creationId xmlns:p14="http://schemas.microsoft.com/office/powerpoint/2010/main" val="12625608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A3D8F-977C-1524-BDE2-0A468D63D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CE0D36-DC4F-7BCF-C61F-AA0C1559D4F9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A27CEC7-B7C5-5BBB-4CF0-87A10C5E1495}"/>
              </a:ext>
            </a:extLst>
          </p:cNvPr>
          <p:cNvSpPr/>
          <p:nvPr/>
        </p:nvSpPr>
        <p:spPr>
          <a:xfrm>
            <a:off x="2522806" y="2089861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E1BFE72-9E04-0D61-041C-887D26C414C6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A0E8B95-3DEA-0B77-FB3C-AF743519F399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943B001-1D22-166B-23A2-4C903F804157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56A9070E-ABA7-9520-3EA9-2E35D3EEBB90}"/>
              </a:ext>
            </a:extLst>
          </p:cNvPr>
          <p:cNvSpPr/>
          <p:nvPr/>
        </p:nvSpPr>
        <p:spPr>
          <a:xfrm>
            <a:off x="2778839" y="2565346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[1, 2, 3]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 = x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(4)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print(x)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8FAF08-4A57-B800-F098-EB8C51FBF554}"/>
              </a:ext>
            </a:extLst>
          </p:cNvPr>
          <p:cNvSpPr txBox="1"/>
          <p:nvPr/>
        </p:nvSpPr>
        <p:spPr>
          <a:xfrm>
            <a:off x="3807120" y="6055496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0B2DCF64-FD35-F47D-5C03-9FAEB548AECB}"/>
              </a:ext>
            </a:extLst>
          </p:cNvPr>
          <p:cNvSpPr/>
          <p:nvPr/>
        </p:nvSpPr>
        <p:spPr>
          <a:xfrm rot="5400000">
            <a:off x="5078777" y="524778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D1AD0-6F2C-28FC-58DA-0D62B90C0025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Predict the Output</a:t>
            </a:r>
          </a:p>
        </p:txBody>
      </p:sp>
    </p:spTree>
    <p:extLst>
      <p:ext uri="{BB962C8B-B14F-4D97-AF65-F5344CB8AC3E}">
        <p14:creationId xmlns:p14="http://schemas.microsoft.com/office/powerpoint/2010/main" val="4165520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42B74-A4A7-864D-128D-FF2C51C04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A19B9C-FFF5-3F32-F5FE-7E0B0B43A14E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77D18B23-8788-B484-0663-F91134EDCA51}"/>
              </a:ext>
            </a:extLst>
          </p:cNvPr>
          <p:cNvSpPr/>
          <p:nvPr/>
        </p:nvSpPr>
        <p:spPr>
          <a:xfrm>
            <a:off x="2522806" y="2089861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44720501-3B24-A24B-0794-1778B2FA6F14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C18F932-CBDC-871D-27CA-5CFD4F18E304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8539C0BE-2DEA-5CE4-7316-FBC987FE3906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D303D75C-4571-2980-E1E6-77B12B9B6912}"/>
              </a:ext>
            </a:extLst>
          </p:cNvPr>
          <p:cNvSpPr/>
          <p:nvPr/>
        </p:nvSpPr>
        <p:spPr>
          <a:xfrm>
            <a:off x="2778839" y="2565346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[1, 2, 3]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 = x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(4)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print(x)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B4620E-A1BD-3FAE-A52F-472C693B10DF}"/>
              </a:ext>
            </a:extLst>
          </p:cNvPr>
          <p:cNvSpPr txBox="1"/>
          <p:nvPr/>
        </p:nvSpPr>
        <p:spPr>
          <a:xfrm>
            <a:off x="3807120" y="6055496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[1, 2, 3, 4]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AC8D06A5-D8AB-3C38-1987-E9E6E90409DF}"/>
              </a:ext>
            </a:extLst>
          </p:cNvPr>
          <p:cNvSpPr/>
          <p:nvPr/>
        </p:nvSpPr>
        <p:spPr>
          <a:xfrm rot="5400000">
            <a:off x="5078777" y="524778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ECCB78-F129-A3CB-EA60-65C0D5EACB88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Predict the Output</a:t>
            </a:r>
          </a:p>
        </p:txBody>
      </p:sp>
    </p:spTree>
    <p:extLst>
      <p:ext uri="{BB962C8B-B14F-4D97-AF65-F5344CB8AC3E}">
        <p14:creationId xmlns:p14="http://schemas.microsoft.com/office/powerpoint/2010/main" val="8034138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D296A5-7394-E32F-E5E3-B3FFCC857058}"/>
              </a:ext>
            </a:extLst>
          </p:cNvPr>
          <p:cNvSpPr txBox="1"/>
          <p:nvPr/>
        </p:nvSpPr>
        <p:spPr>
          <a:xfrm>
            <a:off x="3049229" y="324153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Aliasing vs Copying a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057AE-D01E-A420-FE8B-41945469FB82}"/>
              </a:ext>
            </a:extLst>
          </p:cNvPr>
          <p:cNvSpPr txBox="1"/>
          <p:nvPr/>
        </p:nvSpPr>
        <p:spPr>
          <a:xfrm>
            <a:off x="442452" y="1116394"/>
            <a:ext cx="1153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When assigning a list to another variable, we must understand whether we are creating another reference or a new list.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D99E343-21FE-E4D3-B6EC-6C68F1A29EA7}"/>
              </a:ext>
            </a:extLst>
          </p:cNvPr>
          <p:cNvSpPr/>
          <p:nvPr/>
        </p:nvSpPr>
        <p:spPr>
          <a:xfrm>
            <a:off x="117311" y="2076601"/>
            <a:ext cx="4857026" cy="135239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4E42B747-E5CB-2A5A-0F0C-75196A3BD199}"/>
              </a:ext>
            </a:extLst>
          </p:cNvPr>
          <p:cNvSpPr/>
          <p:nvPr/>
        </p:nvSpPr>
        <p:spPr>
          <a:xfrm>
            <a:off x="300191" y="224119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1FB6B11F-6C75-20E5-9723-2AD6CA883C9F}"/>
              </a:ext>
            </a:extLst>
          </p:cNvPr>
          <p:cNvSpPr/>
          <p:nvPr/>
        </p:nvSpPr>
        <p:spPr>
          <a:xfrm>
            <a:off x="464783" y="224119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FC37BB6F-1E2D-BB96-770D-0877D753CE5C}"/>
              </a:ext>
            </a:extLst>
          </p:cNvPr>
          <p:cNvSpPr/>
          <p:nvPr/>
        </p:nvSpPr>
        <p:spPr>
          <a:xfrm>
            <a:off x="629375" y="224119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317D7DB-6212-77C7-2F35-D21AC2813BD8}"/>
              </a:ext>
            </a:extLst>
          </p:cNvPr>
          <p:cNvSpPr/>
          <p:nvPr/>
        </p:nvSpPr>
        <p:spPr>
          <a:xfrm>
            <a:off x="373343" y="2552086"/>
            <a:ext cx="4399825" cy="70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[10, 20, 30]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BD873559-AA0A-C603-79E5-94725BA26B66}"/>
              </a:ext>
            </a:extLst>
          </p:cNvPr>
          <p:cNvSpPr/>
          <p:nvPr/>
        </p:nvSpPr>
        <p:spPr>
          <a:xfrm>
            <a:off x="6056688" y="2076601"/>
            <a:ext cx="5835121" cy="135239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5F6A364A-F83F-80C5-2C96-DD1486AC6890}"/>
              </a:ext>
            </a:extLst>
          </p:cNvPr>
          <p:cNvSpPr/>
          <p:nvPr/>
        </p:nvSpPr>
        <p:spPr>
          <a:xfrm>
            <a:off x="6239569" y="224119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10DA21AA-4F11-533C-C3FD-AE2A97E234EB}"/>
              </a:ext>
            </a:extLst>
          </p:cNvPr>
          <p:cNvSpPr/>
          <p:nvPr/>
        </p:nvSpPr>
        <p:spPr>
          <a:xfrm>
            <a:off x="6404161" y="224119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1A561AD2-EDCF-B50E-053E-B0D9F29D3BFD}"/>
              </a:ext>
            </a:extLst>
          </p:cNvPr>
          <p:cNvSpPr/>
          <p:nvPr/>
        </p:nvSpPr>
        <p:spPr>
          <a:xfrm>
            <a:off x="6568753" y="224119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49922506-308D-B64A-A64D-879ED7D08765}"/>
              </a:ext>
            </a:extLst>
          </p:cNvPr>
          <p:cNvSpPr/>
          <p:nvPr/>
        </p:nvSpPr>
        <p:spPr>
          <a:xfrm>
            <a:off x="6312721" y="2552086"/>
            <a:ext cx="5453886" cy="7073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[10, 20, 30]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a[:]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DEA9472-678C-521A-DCC8-EA85005A7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890" y="3515433"/>
            <a:ext cx="9704439" cy="334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9004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D86C7-786E-E099-5FC9-B3E74CC50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9BE35A-85CA-3A60-D016-DCE9946BB7EB}"/>
              </a:ext>
            </a:extLst>
          </p:cNvPr>
          <p:cNvSpPr txBox="1"/>
          <p:nvPr/>
        </p:nvSpPr>
        <p:spPr>
          <a:xfrm>
            <a:off x="3049229" y="324153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Aliasing vs Copying a List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236E5B-C617-CF02-D6D0-3D37D23C854A}"/>
              </a:ext>
            </a:extLst>
          </p:cNvPr>
          <p:cNvSpPr txBox="1"/>
          <p:nvPr/>
        </p:nvSpPr>
        <p:spPr>
          <a:xfrm>
            <a:off x="442452" y="1116394"/>
            <a:ext cx="115332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When assigning a list to another variable, we must understand whether we are creating another reference or a new list.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FD48E22-4859-3680-FA36-199BB1F008CD}"/>
              </a:ext>
            </a:extLst>
          </p:cNvPr>
          <p:cNvSpPr/>
          <p:nvPr/>
        </p:nvSpPr>
        <p:spPr>
          <a:xfrm>
            <a:off x="117311" y="2076601"/>
            <a:ext cx="4857026" cy="2524896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A0CA6ACC-1521-F071-3805-69F1FB86F24F}"/>
              </a:ext>
            </a:extLst>
          </p:cNvPr>
          <p:cNvSpPr/>
          <p:nvPr/>
        </p:nvSpPr>
        <p:spPr>
          <a:xfrm>
            <a:off x="300191" y="224119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E40CAFF2-5352-DEF5-7AA2-F06A75AB7002}"/>
              </a:ext>
            </a:extLst>
          </p:cNvPr>
          <p:cNvSpPr/>
          <p:nvPr/>
        </p:nvSpPr>
        <p:spPr>
          <a:xfrm>
            <a:off x="464783" y="224119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F6067DC-990E-9754-417B-E896AD8E685E}"/>
              </a:ext>
            </a:extLst>
          </p:cNvPr>
          <p:cNvSpPr/>
          <p:nvPr/>
        </p:nvSpPr>
        <p:spPr>
          <a:xfrm>
            <a:off x="629375" y="224119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0499E84-C90D-8DB6-30B0-864CE9FA674F}"/>
              </a:ext>
            </a:extLst>
          </p:cNvPr>
          <p:cNvSpPr/>
          <p:nvPr/>
        </p:nvSpPr>
        <p:spPr>
          <a:xfrm>
            <a:off x="373343" y="2552085"/>
            <a:ext cx="4399825" cy="192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[10, 20, 30]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</a:t>
            </a:r>
          </a:p>
          <a:p>
            <a:endParaRPr lang="pt-BR" sz="2000" dirty="0">
              <a:solidFill>
                <a:srgbClr val="E6EDF3"/>
              </a:solidFill>
              <a:latin typeface="Aptos Mono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b[0] = 99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print(a)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print(b)</a:t>
            </a: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0235A7A9-2EB1-5E42-2530-5E20FEEA08AF}"/>
              </a:ext>
            </a:extLst>
          </p:cNvPr>
          <p:cNvSpPr/>
          <p:nvPr/>
        </p:nvSpPr>
        <p:spPr>
          <a:xfrm>
            <a:off x="6056688" y="2076601"/>
            <a:ext cx="5835121" cy="2524896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1AD8A5EB-BF63-E1BB-D2F9-02362849A2A4}"/>
              </a:ext>
            </a:extLst>
          </p:cNvPr>
          <p:cNvSpPr/>
          <p:nvPr/>
        </p:nvSpPr>
        <p:spPr>
          <a:xfrm>
            <a:off x="6239569" y="224119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CC46D55C-8475-C536-F972-A1307C40A42E}"/>
              </a:ext>
            </a:extLst>
          </p:cNvPr>
          <p:cNvSpPr/>
          <p:nvPr/>
        </p:nvSpPr>
        <p:spPr>
          <a:xfrm>
            <a:off x="6404161" y="224119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F2771DB3-6FC5-1DFF-07DD-819B555F14B4}"/>
              </a:ext>
            </a:extLst>
          </p:cNvPr>
          <p:cNvSpPr/>
          <p:nvPr/>
        </p:nvSpPr>
        <p:spPr>
          <a:xfrm>
            <a:off x="6568753" y="224119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FBED9853-F934-421D-C74F-1CDD4D26DBB5}"/>
              </a:ext>
            </a:extLst>
          </p:cNvPr>
          <p:cNvSpPr/>
          <p:nvPr/>
        </p:nvSpPr>
        <p:spPr>
          <a:xfrm>
            <a:off x="6312721" y="2552085"/>
            <a:ext cx="5453886" cy="19276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[10, 20, 30]</a:t>
            </a:r>
          </a:p>
          <a:p>
            <a:r>
              <a:rPr lang="pt-B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a[:]</a:t>
            </a:r>
          </a:p>
          <a:p>
            <a:endParaRPr lang="pt-BR" sz="2000" dirty="0">
              <a:solidFill>
                <a:srgbClr val="E6EDF3"/>
              </a:solidFill>
              <a:latin typeface="Aptos Mono" pitchFamily="34" charset="0"/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b[0] = 99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print(a)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print(b)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4DE3E-1A50-EEE1-F8EE-A6A51317B22E}"/>
              </a:ext>
            </a:extLst>
          </p:cNvPr>
          <p:cNvSpPr txBox="1"/>
          <p:nvPr/>
        </p:nvSpPr>
        <p:spPr>
          <a:xfrm>
            <a:off x="589985" y="5741606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[99, 20, 30]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[99, 20, 30]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8" name="Striped Right Arrow 12">
            <a:extLst>
              <a:ext uri="{FF2B5EF4-FFF2-40B4-BE49-F238E27FC236}">
                <a16:creationId xmlns:a16="http://schemas.microsoft.com/office/drawing/2014/main" id="{BD4DA836-652B-9BEA-7531-8568F73E5BA5}"/>
              </a:ext>
            </a:extLst>
          </p:cNvPr>
          <p:cNvSpPr/>
          <p:nvPr/>
        </p:nvSpPr>
        <p:spPr>
          <a:xfrm rot="5400000">
            <a:off x="1861642" y="493389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71809-E062-A419-8666-084F176E230D}"/>
              </a:ext>
            </a:extLst>
          </p:cNvPr>
          <p:cNvSpPr txBox="1"/>
          <p:nvPr/>
        </p:nvSpPr>
        <p:spPr>
          <a:xfrm>
            <a:off x="7287739" y="5741606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[10, 20, 30]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[99, 20, 30]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6" name="Striped Right Arrow 12">
            <a:extLst>
              <a:ext uri="{FF2B5EF4-FFF2-40B4-BE49-F238E27FC236}">
                <a16:creationId xmlns:a16="http://schemas.microsoft.com/office/drawing/2014/main" id="{6C2CA419-354D-AE2D-F66A-9B5AEBA7B71C}"/>
              </a:ext>
            </a:extLst>
          </p:cNvPr>
          <p:cNvSpPr/>
          <p:nvPr/>
        </p:nvSpPr>
        <p:spPr>
          <a:xfrm rot="5400000">
            <a:off x="8559396" y="493389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228922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A61F93-3645-6618-23AB-7191A28A5A54}"/>
              </a:ext>
            </a:extLst>
          </p:cNvPr>
          <p:cNvSpPr txBox="1"/>
          <p:nvPr/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Difference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B91D4E-990A-F318-6FC0-5CAE0C547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61140"/>
              </p:ext>
            </p:extLst>
          </p:nvPr>
        </p:nvGraphicFramePr>
        <p:xfrm>
          <a:off x="320040" y="2084546"/>
          <a:ext cx="11548873" cy="3514788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30196"/>
                  </a:srgbClr>
                </a:solidFill>
                <a:tableStyleId>{5C22544A-7EE6-4342-B048-85BDC9FD1C3A}</a:tableStyleId>
              </a:tblPr>
              <a:tblGrid>
                <a:gridCol w="3924482">
                  <a:extLst>
                    <a:ext uri="{9D8B030D-6E8A-4147-A177-3AD203B41FA5}">
                      <a16:colId xmlns:a16="http://schemas.microsoft.com/office/drawing/2014/main" val="2952561866"/>
                    </a:ext>
                  </a:extLst>
                </a:gridCol>
                <a:gridCol w="7624391">
                  <a:extLst>
                    <a:ext uri="{9D8B030D-6E8A-4147-A177-3AD203B41FA5}">
                      <a16:colId xmlns:a16="http://schemas.microsoft.com/office/drawing/2014/main" val="532450808"/>
                    </a:ext>
                  </a:extLst>
                </a:gridCol>
              </a:tblGrid>
              <a:tr h="878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Aliasing b = a</a:t>
                      </a:r>
                    </a:p>
                  </a:txBody>
                  <a:tcPr marL="241332" marR="185640" marT="185640" marB="18564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65000"/>
                        <a:alpha val="3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Copying b = a[:]</a:t>
                      </a:r>
                    </a:p>
                  </a:txBody>
                  <a:tcPr marL="241332" marR="185640" marT="185640" marB="18564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65000"/>
                        <a:alpha val="3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6184643"/>
                  </a:ext>
                </a:extLst>
              </a:tr>
              <a:tr h="878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Same list object</a:t>
                      </a:r>
                    </a:p>
                  </a:txBody>
                  <a:tcPr marL="241332" marR="185640" marT="185640" marB="18564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New list object</a:t>
                      </a:r>
                    </a:p>
                  </a:txBody>
                  <a:tcPr marL="241332" marR="185640" marT="185640" marB="18564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57522"/>
                  </a:ext>
                </a:extLst>
              </a:tr>
              <a:tr h="878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Changes are shared</a:t>
                      </a:r>
                    </a:p>
                  </a:txBody>
                  <a:tcPr marL="241332" marR="185640" marT="185640" marB="18564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Changes to top-level items are independent</a:t>
                      </a:r>
                    </a:p>
                  </a:txBody>
                  <a:tcPr marL="241332" marR="185640" marT="185640" marB="18564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514701"/>
                  </a:ext>
                </a:extLst>
              </a:tr>
              <a:tr h="878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>
                          <a:solidFill>
                            <a:schemeClr val="tx1"/>
                          </a:solidFill>
                        </a:rPr>
                        <a:t>No new list created</a:t>
                      </a:r>
                    </a:p>
                  </a:txBody>
                  <a:tcPr marL="241332" marR="185640" marT="185640" marB="185640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cap="none" spc="0" dirty="0">
                          <a:solidFill>
                            <a:schemeClr val="tx1"/>
                          </a:solidFill>
                        </a:rPr>
                        <a:t>Shallow copy created</a:t>
                      </a:r>
                    </a:p>
                  </a:txBody>
                  <a:tcPr marL="241332" marR="185640" marT="185640" marB="18564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4285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131268-56B2-0EA0-B48B-4C298FF343C4}"/>
              </a:ext>
            </a:extLst>
          </p:cNvPr>
          <p:cNvSpPr txBox="1"/>
          <p:nvPr/>
        </p:nvSpPr>
        <p:spPr>
          <a:xfrm>
            <a:off x="320040" y="5932138"/>
            <a:ext cx="11548873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Remember:</a:t>
            </a:r>
            <a:r>
              <a:rPr lang="en-US" sz="2400" dirty="0"/>
              <a:t> </a:t>
            </a:r>
            <a:r>
              <a:rPr lang="en-US" sz="2400" dirty="0">
                <a:latin typeface="+mn-lt"/>
              </a:rPr>
              <a:t>b = a</a:t>
            </a:r>
            <a:r>
              <a:rPr lang="en-US" sz="2400" dirty="0"/>
              <a:t> creates an alias, while </a:t>
            </a:r>
            <a:r>
              <a:rPr lang="en-US" sz="2400" dirty="0">
                <a:latin typeface="+mn-lt"/>
              </a:rPr>
              <a:t>b = a[:]</a:t>
            </a:r>
            <a:r>
              <a:rPr lang="en-US" sz="2400" dirty="0"/>
              <a:t> creates a new list containing the same elements.</a:t>
            </a:r>
          </a:p>
        </p:txBody>
      </p:sp>
    </p:spTree>
    <p:extLst>
      <p:ext uri="{BB962C8B-B14F-4D97-AF65-F5344CB8AC3E}">
        <p14:creationId xmlns:p14="http://schemas.microsoft.com/office/powerpoint/2010/main" val="37288264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58218-CB30-7E86-0C74-8AE2940FE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F70944-5300-812F-2C5D-21944F2B8D21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9D0427B-7A60-79B3-ABD0-BB177E19C1EF}"/>
              </a:ext>
            </a:extLst>
          </p:cNvPr>
          <p:cNvSpPr/>
          <p:nvPr/>
        </p:nvSpPr>
        <p:spPr>
          <a:xfrm>
            <a:off x="2522806" y="2089861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83B842EB-72EA-7CB2-A2A7-0AD6A80D9F41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40C411D-57CF-9FE1-0F7E-CDFD10D0E244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796A591-280C-4F8F-FAB2-2E1D5C66B99E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FC19A9C5-6465-8EFB-8427-06CCDE92E0E6}"/>
              </a:ext>
            </a:extLst>
          </p:cNvPr>
          <p:cNvSpPr/>
          <p:nvPr/>
        </p:nvSpPr>
        <p:spPr>
          <a:xfrm>
            <a:off x="2778839" y="2565346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[5, 10, 15]</a:t>
            </a:r>
          </a:p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 = x[:]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y.append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(20)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(x)</a:t>
            </a: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(y)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FEEF7-EF61-CD14-BE13-62AF1880B2D0}"/>
              </a:ext>
            </a:extLst>
          </p:cNvPr>
          <p:cNvSpPr txBox="1"/>
          <p:nvPr/>
        </p:nvSpPr>
        <p:spPr>
          <a:xfrm>
            <a:off x="3807120" y="6055496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CDC3026D-5D84-14C0-A9D5-F323175FB2F7}"/>
              </a:ext>
            </a:extLst>
          </p:cNvPr>
          <p:cNvSpPr/>
          <p:nvPr/>
        </p:nvSpPr>
        <p:spPr>
          <a:xfrm rot="5400000">
            <a:off x="5078777" y="524778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6F0639-44C3-860F-B589-E4A1D05F335E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Predict the Output</a:t>
            </a:r>
          </a:p>
        </p:txBody>
      </p:sp>
    </p:spTree>
    <p:extLst>
      <p:ext uri="{BB962C8B-B14F-4D97-AF65-F5344CB8AC3E}">
        <p14:creationId xmlns:p14="http://schemas.microsoft.com/office/powerpoint/2010/main" val="14779029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D974C-5CEE-DDE3-6D56-3E87ECEAE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D6F3DE-3D41-4186-AEBA-8D035CE5E61A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Quick Check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8FC591F4-E575-F962-3CB6-746F731413A1}"/>
              </a:ext>
            </a:extLst>
          </p:cNvPr>
          <p:cNvSpPr/>
          <p:nvPr/>
        </p:nvSpPr>
        <p:spPr>
          <a:xfrm>
            <a:off x="2522806" y="2089861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EB5BEF29-D81D-48F0-1D45-3CEA8D95996A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1597A873-8941-8649-0B85-D0D88EE195AD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6278E9D7-9439-E404-BFEB-A1AA4C4FCFEF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A87F2D3F-27B0-783E-3B97-A80843D37F50}"/>
              </a:ext>
            </a:extLst>
          </p:cNvPr>
          <p:cNvSpPr/>
          <p:nvPr/>
        </p:nvSpPr>
        <p:spPr>
          <a:xfrm>
            <a:off x="2778839" y="2565346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x = [5, 10, 15]</a:t>
            </a:r>
          </a:p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 = x[:]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y.append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(20)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(x)</a:t>
            </a: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(y)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4650E-F5F9-6FC5-75BB-F6210E7C9711}"/>
              </a:ext>
            </a:extLst>
          </p:cNvPr>
          <p:cNvSpPr txBox="1"/>
          <p:nvPr/>
        </p:nvSpPr>
        <p:spPr>
          <a:xfrm>
            <a:off x="3807120" y="6055496"/>
            <a:ext cx="3200401" cy="70788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[5, 10, 15]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[5, 10, 15, 20]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94A6BC8F-65B0-10D0-AB22-2D3A575A17B7}"/>
              </a:ext>
            </a:extLst>
          </p:cNvPr>
          <p:cNvSpPr/>
          <p:nvPr/>
        </p:nvSpPr>
        <p:spPr>
          <a:xfrm rot="5400000">
            <a:off x="5078777" y="524778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47ED3-C24A-4392-829E-0525AA68B530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Predict the Output</a:t>
            </a:r>
          </a:p>
        </p:txBody>
      </p:sp>
    </p:spTree>
    <p:extLst>
      <p:ext uri="{BB962C8B-B14F-4D97-AF65-F5344CB8AC3E}">
        <p14:creationId xmlns:p14="http://schemas.microsoft.com/office/powerpoint/2010/main" val="11907576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10B120-F32C-DAAC-DD61-7B022D72E2B2}"/>
              </a:ext>
            </a:extLst>
          </p:cNvPr>
          <p:cNvSpPr txBox="1"/>
          <p:nvPr/>
        </p:nvSpPr>
        <p:spPr>
          <a:xfrm>
            <a:off x="3049229" y="412644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Can We Combine Two Lists?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28A7E-0F40-F425-D8AA-1140ADED9E7C}"/>
              </a:ext>
            </a:extLst>
          </p:cNvPr>
          <p:cNvSpPr txBox="1"/>
          <p:nvPr/>
        </p:nvSpPr>
        <p:spPr>
          <a:xfrm>
            <a:off x="383458" y="1356853"/>
            <a:ext cx="1135625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Python allows us to combine lists using the </a:t>
            </a:r>
            <a:r>
              <a:rPr lang="en-US" sz="2000" dirty="0">
                <a:latin typeface="+mn-lt"/>
              </a:rPr>
              <a:t>+</a:t>
            </a:r>
            <a:r>
              <a:rPr lang="en-US" sz="2000" dirty="0"/>
              <a:t> operator. This is called list concatenation.</a:t>
            </a:r>
          </a:p>
          <a:p>
            <a:endParaRPr lang="en-US" sz="2000" dirty="0"/>
          </a:p>
          <a:p>
            <a:r>
              <a:rPr lang="en-US" sz="2000" b="1" dirty="0"/>
              <a:t>Example:</a:t>
            </a:r>
            <a:r>
              <a:rPr lang="en-US" sz="2000" dirty="0"/>
              <a:t> Combining Two Groups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73390938-0C52-7ED5-BFC5-8D8020F01CAE}"/>
              </a:ext>
            </a:extLst>
          </p:cNvPr>
          <p:cNvSpPr/>
          <p:nvPr/>
        </p:nvSpPr>
        <p:spPr>
          <a:xfrm>
            <a:off x="300192" y="2550264"/>
            <a:ext cx="4994479" cy="2523949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212BD08-6F6F-EAA8-79FD-0D39EBC30D8A}"/>
              </a:ext>
            </a:extLst>
          </p:cNvPr>
          <p:cNvSpPr/>
          <p:nvPr/>
        </p:nvSpPr>
        <p:spPr>
          <a:xfrm>
            <a:off x="483072" y="271485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61A2B9FE-2EC5-4976-FD51-2D955A6B3CC0}"/>
              </a:ext>
            </a:extLst>
          </p:cNvPr>
          <p:cNvSpPr/>
          <p:nvPr/>
        </p:nvSpPr>
        <p:spPr>
          <a:xfrm>
            <a:off x="647664" y="271485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893BEFF-2006-EB4D-0B2E-3DC2E3BBA6C5}"/>
              </a:ext>
            </a:extLst>
          </p:cNvPr>
          <p:cNvSpPr/>
          <p:nvPr/>
        </p:nvSpPr>
        <p:spPr>
          <a:xfrm>
            <a:off x="812256" y="271485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347EF9E-372E-15D1-9334-329D52D1346D}"/>
              </a:ext>
            </a:extLst>
          </p:cNvPr>
          <p:cNvSpPr/>
          <p:nvPr/>
        </p:nvSpPr>
        <p:spPr>
          <a:xfrm>
            <a:off x="556224" y="3025749"/>
            <a:ext cx="4583748" cy="188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group_a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= ["Ali", "Sara"]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group_b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= ["Tom", "Anna"]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students = </a:t>
            </a:r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group_a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+ </a:t>
            </a:r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group_b</a:t>
            </a:r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print(students)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61B23D-5F5F-F400-B0A2-509B409D0D85}"/>
              </a:ext>
            </a:extLst>
          </p:cNvPr>
          <p:cNvSpPr txBox="1"/>
          <p:nvPr/>
        </p:nvSpPr>
        <p:spPr>
          <a:xfrm>
            <a:off x="1617550" y="6089876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['Ali', 'Sara', 'Tom', 'Anna']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9" name="Striped Right Arrow 12">
            <a:extLst>
              <a:ext uri="{FF2B5EF4-FFF2-40B4-BE49-F238E27FC236}">
                <a16:creationId xmlns:a16="http://schemas.microsoft.com/office/drawing/2014/main" id="{56A710EB-C017-A1ED-EB58-0AD49A87621C}"/>
              </a:ext>
            </a:extLst>
          </p:cNvPr>
          <p:cNvSpPr/>
          <p:nvPr/>
        </p:nvSpPr>
        <p:spPr>
          <a:xfrm rot="5400000">
            <a:off x="2856162" y="5298487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DB32706-BC91-C042-4CB9-6F354F175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394" y="2545236"/>
            <a:ext cx="5620534" cy="253400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0F05314-821B-168F-947C-C6FAEBDF148D}"/>
              </a:ext>
            </a:extLst>
          </p:cNvPr>
          <p:cNvSpPr txBox="1"/>
          <p:nvPr/>
        </p:nvSpPr>
        <p:spPr>
          <a:xfrm>
            <a:off x="6061587" y="2003184"/>
            <a:ext cx="56781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How Does It Work?</a:t>
            </a:r>
          </a:p>
        </p:txBody>
      </p:sp>
    </p:spTree>
    <p:extLst>
      <p:ext uri="{BB962C8B-B14F-4D97-AF65-F5344CB8AC3E}">
        <p14:creationId xmlns:p14="http://schemas.microsoft.com/office/powerpoint/2010/main" val="18113640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">
            <a:extLst>
              <a:ext uri="{FF2B5EF4-FFF2-40B4-BE49-F238E27FC236}">
                <a16:creationId xmlns:a16="http://schemas.microsoft.com/office/drawing/2014/main" id="{6CE91D4F-15F5-134F-893B-1179ED423F45}"/>
              </a:ext>
            </a:extLst>
          </p:cNvPr>
          <p:cNvSpPr/>
          <p:nvPr/>
        </p:nvSpPr>
        <p:spPr>
          <a:xfrm>
            <a:off x="679258" y="1175461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3C501A2-27CE-4D13-FAE0-25386AE373C6}"/>
              </a:ext>
            </a:extLst>
          </p:cNvPr>
          <p:cNvSpPr/>
          <p:nvPr/>
        </p:nvSpPr>
        <p:spPr>
          <a:xfrm>
            <a:off x="862139" y="13400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87F24919-C6FB-C119-E855-48AC6B0F4BE2}"/>
              </a:ext>
            </a:extLst>
          </p:cNvPr>
          <p:cNvSpPr/>
          <p:nvPr/>
        </p:nvSpPr>
        <p:spPr>
          <a:xfrm>
            <a:off x="1026731" y="13400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1F90269-E3C1-80C7-ABF9-DEE20482F406}"/>
              </a:ext>
            </a:extLst>
          </p:cNvPr>
          <p:cNvSpPr/>
          <p:nvPr/>
        </p:nvSpPr>
        <p:spPr>
          <a:xfrm>
            <a:off x="1191323" y="13400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54AC7BA5-597C-2C97-6AA1-9E577A1D98E4}"/>
              </a:ext>
            </a:extLst>
          </p:cNvPr>
          <p:cNvSpPr/>
          <p:nvPr/>
        </p:nvSpPr>
        <p:spPr>
          <a:xfrm>
            <a:off x="935291" y="1650946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20]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more_numbers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= [30, 40]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result = numbers + </a:t>
            </a:r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more_numbers</a:t>
            </a:r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print(result)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44823-43F9-C1F8-0770-B3EC4D926570}"/>
              </a:ext>
            </a:extLst>
          </p:cNvPr>
          <p:cNvSpPr txBox="1"/>
          <p:nvPr/>
        </p:nvSpPr>
        <p:spPr>
          <a:xfrm>
            <a:off x="1963572" y="5141096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[10, 20, 30, 40]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5" name="Striped Right Arrow 12">
            <a:extLst>
              <a:ext uri="{FF2B5EF4-FFF2-40B4-BE49-F238E27FC236}">
                <a16:creationId xmlns:a16="http://schemas.microsoft.com/office/drawing/2014/main" id="{0BEEFF92-0CCE-3A7E-1683-2B4257810719}"/>
              </a:ext>
            </a:extLst>
          </p:cNvPr>
          <p:cNvSpPr/>
          <p:nvPr/>
        </p:nvSpPr>
        <p:spPr>
          <a:xfrm rot="5400000">
            <a:off x="3235229" y="433338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4842DE-6379-D290-F3E4-5C1B757DB6F2}"/>
              </a:ext>
            </a:extLst>
          </p:cNvPr>
          <p:cNvSpPr txBox="1"/>
          <p:nvPr/>
        </p:nvSpPr>
        <p:spPr>
          <a:xfrm>
            <a:off x="2358091" y="235662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/>
              <a:t>Another Example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4711ED-877B-D264-2143-D2A88F1A5CA7}"/>
              </a:ext>
            </a:extLst>
          </p:cNvPr>
          <p:cNvSpPr txBox="1"/>
          <p:nvPr/>
        </p:nvSpPr>
        <p:spPr>
          <a:xfrm>
            <a:off x="6389177" y="4883888"/>
            <a:ext cx="53062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Important: </a:t>
            </a:r>
            <a:r>
              <a:rPr lang="en-US" sz="2000" dirty="0"/>
              <a:t>The </a:t>
            </a:r>
            <a:r>
              <a:rPr lang="en-US" sz="2000" dirty="0">
                <a:latin typeface="+mn-lt"/>
              </a:rPr>
              <a:t>+</a:t>
            </a:r>
            <a:r>
              <a:rPr lang="en-US" sz="2000" dirty="0"/>
              <a:t> operator creates a new list. The original lists remain unchanged.</a:t>
            </a:r>
          </a:p>
        </p:txBody>
      </p:sp>
    </p:spTree>
    <p:extLst>
      <p:ext uri="{BB962C8B-B14F-4D97-AF65-F5344CB8AC3E}">
        <p14:creationId xmlns:p14="http://schemas.microsoft.com/office/powerpoint/2010/main" val="272135448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85991-78CC-6408-C014-FB85E6C25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AEA0F6-F458-CBF3-F075-5BDA1CB2504A}"/>
              </a:ext>
            </a:extLst>
          </p:cNvPr>
          <p:cNvSpPr txBox="1"/>
          <p:nvPr/>
        </p:nvSpPr>
        <p:spPr>
          <a:xfrm>
            <a:off x="3060521" y="202226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Finding the Highest Score in a List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6CD3E519-80C7-96E0-8E57-89467BB65BB7}"/>
              </a:ext>
            </a:extLst>
          </p:cNvPr>
          <p:cNvSpPr/>
          <p:nvPr/>
        </p:nvSpPr>
        <p:spPr>
          <a:xfrm>
            <a:off x="2522806" y="1790585"/>
            <a:ext cx="5835121" cy="3253363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B96371A6-0D3A-C215-CC6D-9E120E7B2F6C}"/>
              </a:ext>
            </a:extLst>
          </p:cNvPr>
          <p:cNvSpPr/>
          <p:nvPr/>
        </p:nvSpPr>
        <p:spPr>
          <a:xfrm>
            <a:off x="2705687" y="1955176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7F71B62F-71CF-0509-0322-F2EDF68412A6}"/>
              </a:ext>
            </a:extLst>
          </p:cNvPr>
          <p:cNvSpPr/>
          <p:nvPr/>
        </p:nvSpPr>
        <p:spPr>
          <a:xfrm>
            <a:off x="2870279" y="1955176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FCCD1B1D-CA0E-CAB5-589D-DD461F1277ED}"/>
              </a:ext>
            </a:extLst>
          </p:cNvPr>
          <p:cNvSpPr/>
          <p:nvPr/>
        </p:nvSpPr>
        <p:spPr>
          <a:xfrm>
            <a:off x="3034871" y="1955176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CFF3BEA-36C8-D6A7-C84E-07156F24C785}"/>
              </a:ext>
            </a:extLst>
          </p:cNvPr>
          <p:cNvSpPr/>
          <p:nvPr/>
        </p:nvSpPr>
        <p:spPr>
          <a:xfrm>
            <a:off x="2778839" y="2266069"/>
            <a:ext cx="5453886" cy="26169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[75, 92, 68, 85, 90]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highest = scores[0]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score in scores: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score &gt; highest: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highest = score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print("Highest score:", highest)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92FC3-CCB5-DA4E-73BA-29AB78C16848}"/>
              </a:ext>
            </a:extLst>
          </p:cNvPr>
          <p:cNvSpPr txBox="1"/>
          <p:nvPr/>
        </p:nvSpPr>
        <p:spPr>
          <a:xfrm>
            <a:off x="3749416" y="6073501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Highest score: 92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EB79B23B-64C2-119D-8291-9623B565E40E}"/>
              </a:ext>
            </a:extLst>
          </p:cNvPr>
          <p:cNvSpPr/>
          <p:nvPr/>
        </p:nvSpPr>
        <p:spPr>
          <a:xfrm rot="5400000">
            <a:off x="5021073" y="5265785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61357-F5AA-03CF-77B8-80451811C84E}"/>
              </a:ext>
            </a:extLst>
          </p:cNvPr>
          <p:cNvSpPr txBox="1"/>
          <p:nvPr/>
        </p:nvSpPr>
        <p:spPr>
          <a:xfrm>
            <a:off x="320163" y="784499"/>
            <a:ext cx="11551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Imagine a teacher has the exam scores of five students.</a:t>
            </a:r>
          </a:p>
          <a:p>
            <a:pPr>
              <a:buNone/>
            </a:pPr>
            <a:r>
              <a:rPr lang="en-US" sz="2000" dirty="0"/>
              <a:t>Task: Find the highest score without using Python’s built-in </a:t>
            </a:r>
            <a:r>
              <a:rPr lang="en-US" sz="2000" dirty="0">
                <a:latin typeface="+mn-lt"/>
              </a:rPr>
              <a:t>max()</a:t>
            </a:r>
            <a:r>
              <a:rPr lang="en-US" sz="2000" dirty="0"/>
              <a:t> function.</a:t>
            </a:r>
          </a:p>
        </p:txBody>
      </p:sp>
    </p:spTree>
    <p:extLst>
      <p:ext uri="{BB962C8B-B14F-4D97-AF65-F5344CB8AC3E}">
        <p14:creationId xmlns:p14="http://schemas.microsoft.com/office/powerpoint/2010/main" val="42317821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D6C9-30CA-8063-81D3-9959E5A5B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F5C496-E06B-AC7C-CD5A-16C74FA7B223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Mini Challenge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9F00FD3-9F1B-8E24-1EF7-5554155EBCBE}"/>
              </a:ext>
            </a:extLst>
          </p:cNvPr>
          <p:cNvSpPr/>
          <p:nvPr/>
        </p:nvSpPr>
        <p:spPr>
          <a:xfrm>
            <a:off x="2522806" y="2089861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E096C6FF-8161-B6A5-8527-8C1A9398AB3B}"/>
              </a:ext>
            </a:extLst>
          </p:cNvPr>
          <p:cNvSpPr/>
          <p:nvPr/>
        </p:nvSpPr>
        <p:spPr>
          <a:xfrm>
            <a:off x="2705687" y="2254452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41D5A9E-159B-C7EC-727E-FCBBE1E1752B}"/>
              </a:ext>
            </a:extLst>
          </p:cNvPr>
          <p:cNvSpPr/>
          <p:nvPr/>
        </p:nvSpPr>
        <p:spPr>
          <a:xfrm>
            <a:off x="2870279" y="2254452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5A4EED95-F78C-D846-EAAB-A78270A5CE60}"/>
              </a:ext>
            </a:extLst>
          </p:cNvPr>
          <p:cNvSpPr/>
          <p:nvPr/>
        </p:nvSpPr>
        <p:spPr>
          <a:xfrm>
            <a:off x="3034871" y="2254452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C596794E-AE56-166C-5751-7E4BB6B8C089}"/>
              </a:ext>
            </a:extLst>
          </p:cNvPr>
          <p:cNvSpPr/>
          <p:nvPr/>
        </p:nvSpPr>
        <p:spPr>
          <a:xfrm>
            <a:off x="2778839" y="2565346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[1, 2]</a:t>
            </a:r>
          </a:p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[3, 4]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+ b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(a)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CD9EF-5001-2D52-534B-6B9EABE771C7}"/>
              </a:ext>
            </a:extLst>
          </p:cNvPr>
          <p:cNvSpPr txBox="1"/>
          <p:nvPr/>
        </p:nvSpPr>
        <p:spPr>
          <a:xfrm>
            <a:off x="3807120" y="6055496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54BF8333-EA40-F1FB-6CBF-8FF82C6397EB}"/>
              </a:ext>
            </a:extLst>
          </p:cNvPr>
          <p:cNvSpPr/>
          <p:nvPr/>
        </p:nvSpPr>
        <p:spPr>
          <a:xfrm rot="5400000">
            <a:off x="5078777" y="5247780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E64D85-3B6A-6B79-D5CA-A7AB9F142E5C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Predict the Output</a:t>
            </a:r>
          </a:p>
        </p:txBody>
      </p:sp>
    </p:spTree>
    <p:extLst>
      <p:ext uri="{BB962C8B-B14F-4D97-AF65-F5344CB8AC3E}">
        <p14:creationId xmlns:p14="http://schemas.microsoft.com/office/powerpoint/2010/main" val="40758728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55285-4DB6-198F-117E-9C0D4298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4824CE-44B2-5043-2D2B-70AAE9CA2516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Mini Challenge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01EC2342-2364-5334-ACC8-C2872627271E}"/>
              </a:ext>
            </a:extLst>
          </p:cNvPr>
          <p:cNvSpPr/>
          <p:nvPr/>
        </p:nvSpPr>
        <p:spPr>
          <a:xfrm>
            <a:off x="2522806" y="1884415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FB55E29-B095-17BF-8126-7C88911D4D51}"/>
              </a:ext>
            </a:extLst>
          </p:cNvPr>
          <p:cNvSpPr/>
          <p:nvPr/>
        </p:nvSpPr>
        <p:spPr>
          <a:xfrm>
            <a:off x="2705687" y="2049006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8ED74B1A-35D7-22EC-9451-C435899D450E}"/>
              </a:ext>
            </a:extLst>
          </p:cNvPr>
          <p:cNvSpPr/>
          <p:nvPr/>
        </p:nvSpPr>
        <p:spPr>
          <a:xfrm>
            <a:off x="2870279" y="2049006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4665C6B7-6556-5468-585C-AE0F2281BD38}"/>
              </a:ext>
            </a:extLst>
          </p:cNvPr>
          <p:cNvSpPr/>
          <p:nvPr/>
        </p:nvSpPr>
        <p:spPr>
          <a:xfrm>
            <a:off x="3034871" y="2049006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19BD81F8-59F0-9B5D-551E-C5B3FAA0D709}"/>
              </a:ext>
            </a:extLst>
          </p:cNvPr>
          <p:cNvSpPr/>
          <p:nvPr/>
        </p:nvSpPr>
        <p:spPr>
          <a:xfrm>
            <a:off x="2778839" y="2359900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= [1, 2]</a:t>
            </a:r>
          </a:p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 = [3, 4]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 + b</a:t>
            </a:r>
          </a:p>
          <a:p>
            <a:endParaRPr lang="fr-FR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(a)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553D1-4511-1A38-F1BF-3BE6AFEB592C}"/>
              </a:ext>
            </a:extLst>
          </p:cNvPr>
          <p:cNvSpPr txBox="1"/>
          <p:nvPr/>
        </p:nvSpPr>
        <p:spPr>
          <a:xfrm>
            <a:off x="3807120" y="5690184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[1, 2]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6" name="Striped Right Arrow 12">
            <a:extLst>
              <a:ext uri="{FF2B5EF4-FFF2-40B4-BE49-F238E27FC236}">
                <a16:creationId xmlns:a16="http://schemas.microsoft.com/office/drawing/2014/main" id="{D2C6E0A6-5D41-9873-BDE1-B79F010BF0D3}"/>
              </a:ext>
            </a:extLst>
          </p:cNvPr>
          <p:cNvSpPr/>
          <p:nvPr/>
        </p:nvSpPr>
        <p:spPr>
          <a:xfrm rot="5400000">
            <a:off x="5078777" y="5042334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F5D8A-7D8C-329D-4180-F35713701D47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Predict the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8D4AA5-CB5C-3ECA-E932-41C4CBE5FF8A}"/>
              </a:ext>
            </a:extLst>
          </p:cNvPr>
          <p:cNvSpPr txBox="1"/>
          <p:nvPr/>
        </p:nvSpPr>
        <p:spPr>
          <a:xfrm>
            <a:off x="542002" y="6318129"/>
            <a:ext cx="111239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The expression </a:t>
            </a:r>
            <a:r>
              <a:rPr lang="en-US" sz="2000" dirty="0">
                <a:latin typeface="+mn-lt"/>
              </a:rPr>
              <a:t>a + b</a:t>
            </a:r>
            <a:r>
              <a:rPr lang="en-US" sz="2000" dirty="0"/>
              <a:t> creates a new list, but the result is not assigned to any variable.</a:t>
            </a:r>
          </a:p>
        </p:txBody>
      </p:sp>
    </p:spTree>
    <p:extLst>
      <p:ext uri="{BB962C8B-B14F-4D97-AF65-F5344CB8AC3E}">
        <p14:creationId xmlns:p14="http://schemas.microsoft.com/office/powerpoint/2010/main" val="29284218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4">
            <a:extLst>
              <a:ext uri="{FF2B5EF4-FFF2-40B4-BE49-F238E27FC236}">
                <a16:creationId xmlns:a16="http://schemas.microsoft.com/office/drawing/2014/main" id="{31F57FC9-16C2-7442-A58A-F02BD75DBAB7}"/>
              </a:ext>
            </a:extLst>
          </p:cNvPr>
          <p:cNvSpPr/>
          <p:nvPr/>
        </p:nvSpPr>
        <p:spPr>
          <a:xfrm>
            <a:off x="2522806" y="1304355"/>
            <a:ext cx="6798915" cy="1287947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F4273171-825A-320E-1B95-D5408C147CA1}"/>
              </a:ext>
            </a:extLst>
          </p:cNvPr>
          <p:cNvSpPr/>
          <p:nvPr/>
        </p:nvSpPr>
        <p:spPr>
          <a:xfrm>
            <a:off x="2705687" y="1468945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BA8E9F58-E611-B5C8-10E5-EB47A27C7827}"/>
              </a:ext>
            </a:extLst>
          </p:cNvPr>
          <p:cNvSpPr/>
          <p:nvPr/>
        </p:nvSpPr>
        <p:spPr>
          <a:xfrm>
            <a:off x="2870279" y="1468945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4616463-1B98-6E8F-FA5A-9837876A34BC}"/>
              </a:ext>
            </a:extLst>
          </p:cNvPr>
          <p:cNvSpPr/>
          <p:nvPr/>
        </p:nvSpPr>
        <p:spPr>
          <a:xfrm>
            <a:off x="3034871" y="1468945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7AE64423-5057-CC42-B0D9-516DD6027B35}"/>
              </a:ext>
            </a:extLst>
          </p:cNvPr>
          <p:cNvSpPr/>
          <p:nvPr/>
        </p:nvSpPr>
        <p:spPr>
          <a:xfrm>
            <a:off x="2778838" y="1779840"/>
            <a:ext cx="6417091" cy="58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[75, 42, 88, 35, 91, 60, 48, 82]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747808-6362-4039-006E-7AE8A92A59A1}"/>
              </a:ext>
            </a:extLst>
          </p:cNvPr>
          <p:cNvSpPr txBox="1"/>
          <p:nvPr/>
        </p:nvSpPr>
        <p:spPr>
          <a:xfrm>
            <a:off x="3097472" y="176669"/>
            <a:ext cx="60984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How Many Students Passed the Exam?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7DD635-9141-4585-B3CA-97893A129FA3}"/>
              </a:ext>
            </a:extLst>
          </p:cNvPr>
          <p:cNvSpPr txBox="1"/>
          <p:nvPr/>
        </p:nvSpPr>
        <p:spPr>
          <a:xfrm>
            <a:off x="261783" y="773673"/>
            <a:ext cx="6098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teacher has the following exam scores: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A02D95-2D4C-9644-A40C-3886B3B4246A}"/>
              </a:ext>
            </a:extLst>
          </p:cNvPr>
          <p:cNvSpPr txBox="1"/>
          <p:nvPr/>
        </p:nvSpPr>
        <p:spPr>
          <a:xfrm>
            <a:off x="261783" y="3295214"/>
            <a:ext cx="117434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Task: Write a Python program that counts how many students passed the exam.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Rules: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 student passes if their score is 60 or higher.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Use a </a:t>
            </a:r>
            <a:r>
              <a:rPr lang="en-US" dirty="0">
                <a:latin typeface="+mn-lt"/>
              </a:rPr>
              <a:t>for</a:t>
            </a:r>
            <a:r>
              <a:rPr lang="en-US" dirty="0"/>
              <a:t> loop and an </a:t>
            </a:r>
            <a:r>
              <a:rPr lang="en-US" dirty="0">
                <a:latin typeface="+mn-lt"/>
              </a:rPr>
              <a:t>if</a:t>
            </a:r>
            <a:r>
              <a:rPr lang="en-US" dirty="0"/>
              <a:t> statement.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Do not use </a:t>
            </a:r>
            <a:r>
              <a:rPr lang="en-US" dirty="0">
                <a:latin typeface="+mn-lt"/>
              </a:rPr>
              <a:t>count()</a:t>
            </a:r>
            <a:r>
              <a:rPr lang="en-US" dirty="0"/>
              <a:t> or other built-in counting functions.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Print the total number of students who passed.</a:t>
            </a:r>
          </a:p>
          <a:p>
            <a:pPr lvl="0"/>
            <a:endParaRPr lang="en-US" dirty="0"/>
          </a:p>
          <a:p>
            <a:r>
              <a:rPr lang="en-US" b="1" dirty="0"/>
              <a:t>Expected Output:  </a:t>
            </a:r>
            <a:r>
              <a:rPr lang="en-US" dirty="0"/>
              <a:t>Students passed: 5</a:t>
            </a:r>
          </a:p>
        </p:txBody>
      </p:sp>
    </p:spTree>
    <p:extLst>
      <p:ext uri="{BB962C8B-B14F-4D97-AF65-F5344CB8AC3E}">
        <p14:creationId xmlns:p14="http://schemas.microsoft.com/office/powerpoint/2010/main" val="22361736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10D5B-151A-A019-D0C9-731553C8A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B876C5-7AC6-90CC-2A36-A29FF24457DA}"/>
              </a:ext>
            </a:extLst>
          </p:cNvPr>
          <p:cNvSpPr txBox="1"/>
          <p:nvPr/>
        </p:nvSpPr>
        <p:spPr>
          <a:xfrm>
            <a:off x="3049292" y="613497"/>
            <a:ext cx="60985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How Many Students Passed the Exam?</a:t>
            </a: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84C4EB72-F194-0629-E419-41A49A410ADB}"/>
              </a:ext>
            </a:extLst>
          </p:cNvPr>
          <p:cNvSpPr/>
          <p:nvPr/>
        </p:nvSpPr>
        <p:spPr>
          <a:xfrm>
            <a:off x="2522806" y="1884415"/>
            <a:ext cx="7520846" cy="3882204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EBAC807-2CE6-96C7-B28F-8C83BA063243}"/>
              </a:ext>
            </a:extLst>
          </p:cNvPr>
          <p:cNvSpPr/>
          <p:nvPr/>
        </p:nvSpPr>
        <p:spPr>
          <a:xfrm>
            <a:off x="2705687" y="2049006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A0FA68E3-3EF3-A182-657F-EA8FE811DACE}"/>
              </a:ext>
            </a:extLst>
          </p:cNvPr>
          <p:cNvSpPr/>
          <p:nvPr/>
        </p:nvSpPr>
        <p:spPr>
          <a:xfrm>
            <a:off x="2870279" y="2049006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52CA3CA5-C7C4-B4D2-BD6B-11718F671E8E}"/>
              </a:ext>
            </a:extLst>
          </p:cNvPr>
          <p:cNvSpPr/>
          <p:nvPr/>
        </p:nvSpPr>
        <p:spPr>
          <a:xfrm>
            <a:off x="3034871" y="2049006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E3B5B1DB-B011-B044-DAA6-315B540526E9}"/>
              </a:ext>
            </a:extLst>
          </p:cNvPr>
          <p:cNvSpPr/>
          <p:nvPr/>
        </p:nvSpPr>
        <p:spPr>
          <a:xfrm>
            <a:off x="2778839" y="2359899"/>
            <a:ext cx="7065868" cy="307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scores = [75, 42, 88, 35, 91, 60, 48, 82]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passed = 0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for score in scores: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if score &gt;= 60: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  passed += 1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print("Students passed:", passed)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D8066F-3DC7-C928-8BD9-D59EB1FF18F2}"/>
              </a:ext>
            </a:extLst>
          </p:cNvPr>
          <p:cNvSpPr txBox="1"/>
          <p:nvPr/>
        </p:nvSpPr>
        <p:spPr>
          <a:xfrm>
            <a:off x="757829" y="1310511"/>
            <a:ext cx="60985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 teacher has the following exam scores:</a:t>
            </a:r>
          </a:p>
        </p:txBody>
      </p:sp>
    </p:spTree>
    <p:extLst>
      <p:ext uri="{BB962C8B-B14F-4D97-AF65-F5344CB8AC3E}">
        <p14:creationId xmlns:p14="http://schemas.microsoft.com/office/powerpoint/2010/main" val="142554902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2E32CD-4C39-3106-75E6-F893D7D75415}"/>
              </a:ext>
            </a:extLst>
          </p:cNvPr>
          <p:cNvSpPr txBox="1"/>
          <p:nvPr/>
        </p:nvSpPr>
        <p:spPr>
          <a:xfrm>
            <a:off x="3046771" y="456889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Can You Update a Shopping List?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ADBDE-B7BE-E3B6-9A25-58D545EF4C7C}"/>
              </a:ext>
            </a:extLst>
          </p:cNvPr>
          <p:cNvSpPr txBox="1"/>
          <p:nvPr/>
        </p:nvSpPr>
        <p:spPr>
          <a:xfrm>
            <a:off x="424016" y="1223805"/>
            <a:ext cx="11389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You are creating a shopping list using Python.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3949D08C-AB4F-8E03-C92D-23C8DC3CE7E2}"/>
              </a:ext>
            </a:extLst>
          </p:cNvPr>
          <p:cNvSpPr/>
          <p:nvPr/>
        </p:nvSpPr>
        <p:spPr>
          <a:xfrm>
            <a:off x="2522806" y="1867611"/>
            <a:ext cx="6798915" cy="1287947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8D5580C-26FE-1343-5F73-A6E5B6E33E24}"/>
              </a:ext>
            </a:extLst>
          </p:cNvPr>
          <p:cNvSpPr/>
          <p:nvPr/>
        </p:nvSpPr>
        <p:spPr>
          <a:xfrm>
            <a:off x="2705687" y="2032201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891D55CF-FD40-197B-FC0C-2BBA012F141E}"/>
              </a:ext>
            </a:extLst>
          </p:cNvPr>
          <p:cNvSpPr/>
          <p:nvPr/>
        </p:nvSpPr>
        <p:spPr>
          <a:xfrm>
            <a:off x="2870279" y="2032201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32D2A26-D92C-9D87-D4E4-909EBBFD9D1B}"/>
              </a:ext>
            </a:extLst>
          </p:cNvPr>
          <p:cNvSpPr/>
          <p:nvPr/>
        </p:nvSpPr>
        <p:spPr>
          <a:xfrm>
            <a:off x="3034871" y="2032201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60232D14-33C2-BB2D-54DA-39DAFCA8E87F}"/>
              </a:ext>
            </a:extLst>
          </p:cNvPr>
          <p:cNvSpPr/>
          <p:nvPr/>
        </p:nvSpPr>
        <p:spPr>
          <a:xfrm>
            <a:off x="2778838" y="2343096"/>
            <a:ext cx="6417091" cy="58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shopping = ["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milk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", "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bread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", "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eggs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"]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EE719-E742-A4D2-31EA-603F1C12FC93}"/>
              </a:ext>
            </a:extLst>
          </p:cNvPr>
          <p:cNvSpPr txBox="1"/>
          <p:nvPr/>
        </p:nvSpPr>
        <p:spPr>
          <a:xfrm>
            <a:off x="424016" y="3702443"/>
            <a:ext cx="60984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Your Task: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Add </a:t>
            </a:r>
            <a:r>
              <a:rPr lang="en-US" sz="2000" b="1" dirty="0">
                <a:latin typeface="+mn-lt"/>
              </a:rPr>
              <a:t>"rice"</a:t>
            </a:r>
            <a:r>
              <a:rPr lang="en-US" sz="2000" b="1" dirty="0"/>
              <a:t> </a:t>
            </a:r>
            <a:r>
              <a:rPr lang="en-US" sz="2000" dirty="0"/>
              <a:t>to the end.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Replace </a:t>
            </a:r>
            <a:r>
              <a:rPr lang="en-US" sz="2000" b="1" dirty="0">
                <a:latin typeface="+mn-lt"/>
              </a:rPr>
              <a:t>"bread"</a:t>
            </a:r>
            <a:r>
              <a:rPr lang="en-US" sz="2000" dirty="0"/>
              <a:t> with </a:t>
            </a:r>
            <a:r>
              <a:rPr lang="en-US" sz="2000" b="1" dirty="0">
                <a:latin typeface="+mn-lt"/>
              </a:rPr>
              <a:t>"cheese"</a:t>
            </a:r>
            <a:r>
              <a:rPr lang="en-US" sz="2000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Remove the last item using </a:t>
            </a:r>
            <a:r>
              <a:rPr lang="en-US" sz="2000" dirty="0">
                <a:latin typeface="+mn-lt"/>
              </a:rPr>
              <a:t>pop()</a:t>
            </a:r>
            <a:r>
              <a:rPr lang="en-US" sz="2000" dirty="0"/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sz="2000" dirty="0"/>
              <a:t>Print the final list.</a:t>
            </a:r>
          </a:p>
        </p:txBody>
      </p:sp>
    </p:spTree>
    <p:extLst>
      <p:ext uri="{BB962C8B-B14F-4D97-AF65-F5344CB8AC3E}">
        <p14:creationId xmlns:p14="http://schemas.microsoft.com/office/powerpoint/2010/main" val="34191739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25FF-B571-188C-E152-C7760E8FD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EE851D-B2F9-CFEF-5440-0D4A26F5E5F4}"/>
              </a:ext>
            </a:extLst>
          </p:cNvPr>
          <p:cNvSpPr txBox="1"/>
          <p:nvPr/>
        </p:nvSpPr>
        <p:spPr>
          <a:xfrm>
            <a:off x="3046771" y="456889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Can You Update a Shopping List?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6F36F-49E9-8F2B-1D14-8CB5B3DAD822}"/>
              </a:ext>
            </a:extLst>
          </p:cNvPr>
          <p:cNvSpPr txBox="1"/>
          <p:nvPr/>
        </p:nvSpPr>
        <p:spPr>
          <a:xfrm>
            <a:off x="424016" y="1223805"/>
            <a:ext cx="113894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You are creating a shopping list using Python.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BDA75D3-5F00-69A1-CBBE-6DF365C87590}"/>
              </a:ext>
            </a:extLst>
          </p:cNvPr>
          <p:cNvSpPr/>
          <p:nvPr/>
        </p:nvSpPr>
        <p:spPr>
          <a:xfrm>
            <a:off x="2522806" y="1867611"/>
            <a:ext cx="6798915" cy="1287947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16F67C99-DEB5-8C8F-F09D-2379C14FEA41}"/>
              </a:ext>
            </a:extLst>
          </p:cNvPr>
          <p:cNvSpPr/>
          <p:nvPr/>
        </p:nvSpPr>
        <p:spPr>
          <a:xfrm>
            <a:off x="2705687" y="2032201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261B653-57AF-1B4B-0F66-5F80785B384D}"/>
              </a:ext>
            </a:extLst>
          </p:cNvPr>
          <p:cNvSpPr/>
          <p:nvPr/>
        </p:nvSpPr>
        <p:spPr>
          <a:xfrm>
            <a:off x="2870279" y="2032201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C00963DB-337C-E899-E090-7ECE28CAFCC7}"/>
              </a:ext>
            </a:extLst>
          </p:cNvPr>
          <p:cNvSpPr/>
          <p:nvPr/>
        </p:nvSpPr>
        <p:spPr>
          <a:xfrm>
            <a:off x="3034871" y="2032201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7AA463D9-C4E6-A30D-442C-3D2F98E697C2}"/>
              </a:ext>
            </a:extLst>
          </p:cNvPr>
          <p:cNvSpPr/>
          <p:nvPr/>
        </p:nvSpPr>
        <p:spPr>
          <a:xfrm>
            <a:off x="2778838" y="2343096"/>
            <a:ext cx="6417091" cy="581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shopping = ["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milk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", "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bread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", "</a:t>
            </a:r>
            <a:r>
              <a:rPr lang="fr-FR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eggs</a:t>
            </a:r>
            <a:r>
              <a:rPr lang="fr-FR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"]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1443080-F6B3-A354-240A-5E211480534D}"/>
              </a:ext>
            </a:extLst>
          </p:cNvPr>
          <p:cNvSpPr/>
          <p:nvPr/>
        </p:nvSpPr>
        <p:spPr>
          <a:xfrm>
            <a:off x="236806" y="3320148"/>
            <a:ext cx="7520846" cy="3080963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1D68AA9-B760-71F2-1E38-9E8E2D988E62}"/>
              </a:ext>
            </a:extLst>
          </p:cNvPr>
          <p:cNvSpPr/>
          <p:nvPr/>
        </p:nvSpPr>
        <p:spPr>
          <a:xfrm>
            <a:off x="419687" y="3484739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51A4C0F-3B0E-48B1-0273-BBAFC816D43D}"/>
              </a:ext>
            </a:extLst>
          </p:cNvPr>
          <p:cNvSpPr/>
          <p:nvPr/>
        </p:nvSpPr>
        <p:spPr>
          <a:xfrm>
            <a:off x="584279" y="3484739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B122452-BDE3-89D3-47D9-3A6394FDAF7B}"/>
              </a:ext>
            </a:extLst>
          </p:cNvPr>
          <p:cNvSpPr/>
          <p:nvPr/>
        </p:nvSpPr>
        <p:spPr>
          <a:xfrm>
            <a:off x="748871" y="3484739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13516720-C51F-21FA-7C3B-F92A070F4842}"/>
              </a:ext>
            </a:extLst>
          </p:cNvPr>
          <p:cNvSpPr/>
          <p:nvPr/>
        </p:nvSpPr>
        <p:spPr>
          <a:xfrm>
            <a:off x="492839" y="3795632"/>
            <a:ext cx="7065868" cy="248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shopping = ["milk", "bread", "eggs"]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shopping.append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("rice")</a:t>
            </a: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shopping[1] = "cheese"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shopping.pop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print(shopping)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91EAA8-1D6D-7A6D-F66C-3DD0055208B8}"/>
              </a:ext>
            </a:extLst>
          </p:cNvPr>
          <p:cNvSpPr txBox="1"/>
          <p:nvPr/>
        </p:nvSpPr>
        <p:spPr>
          <a:xfrm>
            <a:off x="8991599" y="4839167"/>
            <a:ext cx="2821859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['milk', 'cheese', 'eggs']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23" name="Striped Right Arrow 12">
            <a:extLst>
              <a:ext uri="{FF2B5EF4-FFF2-40B4-BE49-F238E27FC236}">
                <a16:creationId xmlns:a16="http://schemas.microsoft.com/office/drawing/2014/main" id="{BDBA85F7-ED16-C2B9-2427-6DA2E40C7C41}"/>
              </a:ext>
            </a:extLst>
          </p:cNvPr>
          <p:cNvSpPr/>
          <p:nvPr/>
        </p:nvSpPr>
        <p:spPr>
          <a:xfrm>
            <a:off x="8142146" y="4788011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6023906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">
            <a:extLst>
              <a:ext uri="{FF2B5EF4-FFF2-40B4-BE49-F238E27FC236}">
                <a16:creationId xmlns:a16="http://schemas.microsoft.com/office/drawing/2014/main" id="{E12A6003-187A-EA0C-0944-08020783ECB4}"/>
              </a:ext>
            </a:extLst>
          </p:cNvPr>
          <p:cNvSpPr/>
          <p:nvPr/>
        </p:nvSpPr>
        <p:spPr>
          <a:xfrm>
            <a:off x="2634702" y="1059100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804275F-813D-3958-3655-CECEA818D080}"/>
              </a:ext>
            </a:extLst>
          </p:cNvPr>
          <p:cNvSpPr/>
          <p:nvPr/>
        </p:nvSpPr>
        <p:spPr>
          <a:xfrm>
            <a:off x="2817583" y="1223691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10499F79-4D27-EDE5-2931-4CEC4B23032D}"/>
              </a:ext>
            </a:extLst>
          </p:cNvPr>
          <p:cNvSpPr/>
          <p:nvPr/>
        </p:nvSpPr>
        <p:spPr>
          <a:xfrm>
            <a:off x="2982175" y="1223691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D32DD2D-D680-072D-1417-A38C82E4748E}"/>
              </a:ext>
            </a:extLst>
          </p:cNvPr>
          <p:cNvSpPr/>
          <p:nvPr/>
        </p:nvSpPr>
        <p:spPr>
          <a:xfrm>
            <a:off x="3146767" y="1223691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B221604-D23E-8564-C407-C99EA4AC5B2F}"/>
              </a:ext>
            </a:extLst>
          </p:cNvPr>
          <p:cNvSpPr/>
          <p:nvPr/>
        </p:nvSpPr>
        <p:spPr>
          <a:xfrm>
            <a:off x="2890735" y="1534585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(50)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numbers.pop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(1)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print(numbers[2])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3E77E3-D9C5-8D25-3217-CB68CEAA0CFD}"/>
              </a:ext>
            </a:extLst>
          </p:cNvPr>
          <p:cNvSpPr txBox="1"/>
          <p:nvPr/>
        </p:nvSpPr>
        <p:spPr>
          <a:xfrm>
            <a:off x="3919016" y="4864869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?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5" name="Striped Right Arrow 12">
            <a:extLst>
              <a:ext uri="{FF2B5EF4-FFF2-40B4-BE49-F238E27FC236}">
                <a16:creationId xmlns:a16="http://schemas.microsoft.com/office/drawing/2014/main" id="{0308E6BD-8E49-E1A5-1FA5-D627B0A6D289}"/>
              </a:ext>
            </a:extLst>
          </p:cNvPr>
          <p:cNvSpPr/>
          <p:nvPr/>
        </p:nvSpPr>
        <p:spPr>
          <a:xfrm rot="5400000">
            <a:off x="5190673" y="4217019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F4B099-95DE-D86E-8C5D-D6D62BD5B713}"/>
              </a:ext>
            </a:extLst>
          </p:cNvPr>
          <p:cNvSpPr txBox="1"/>
          <p:nvPr/>
        </p:nvSpPr>
        <p:spPr>
          <a:xfrm>
            <a:off x="2634702" y="217728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What Will Python Print?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12575B-7A48-CA5C-AA29-AFDA22C86899}"/>
              </a:ext>
            </a:extLst>
          </p:cNvPr>
          <p:cNvSpPr txBox="1"/>
          <p:nvPr/>
        </p:nvSpPr>
        <p:spPr>
          <a:xfrm>
            <a:off x="409268" y="5424845"/>
            <a:ext cx="33515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/>
              <a:t>A. </a:t>
            </a:r>
            <a:r>
              <a:rPr lang="en-US" sz="2000" dirty="0">
                <a:latin typeface="+mn-lt"/>
              </a:rPr>
              <a:t>20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B. </a:t>
            </a:r>
            <a:r>
              <a:rPr lang="en-US" sz="2000" dirty="0">
                <a:latin typeface="+mn-lt"/>
              </a:rPr>
              <a:t>30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C. </a:t>
            </a:r>
            <a:r>
              <a:rPr lang="en-US" sz="2000" dirty="0">
                <a:latin typeface="+mn-lt"/>
              </a:rPr>
              <a:t>40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D. </a:t>
            </a:r>
            <a:r>
              <a:rPr lang="en-US" sz="2000" dirty="0">
                <a:latin typeface="+mn-lt"/>
              </a:rPr>
              <a:t>50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1036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3F4C-A6D2-1B4F-3E84-C85D44077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4">
            <a:extLst>
              <a:ext uri="{FF2B5EF4-FFF2-40B4-BE49-F238E27FC236}">
                <a16:creationId xmlns:a16="http://schemas.microsoft.com/office/drawing/2014/main" id="{66D86A95-18D6-CCEE-D9E6-34435D146EA1}"/>
              </a:ext>
            </a:extLst>
          </p:cNvPr>
          <p:cNvSpPr/>
          <p:nvPr/>
        </p:nvSpPr>
        <p:spPr>
          <a:xfrm>
            <a:off x="2634702" y="1059100"/>
            <a:ext cx="5835121" cy="3012491"/>
          </a:xfrm>
          <a:prstGeom prst="roundRect">
            <a:avLst>
              <a:gd name="adj" fmla="val 2667"/>
            </a:avLst>
          </a:prstGeom>
          <a:solidFill>
            <a:srgbClr val="0B1728"/>
          </a:solidFill>
          <a:ln w="15240">
            <a:solidFill>
              <a:srgbClr val="29415C"/>
            </a:solidFill>
            <a:prstDash val="solid"/>
          </a:ln>
          <a:effectLst>
            <a:outerShdw blurRad="25400" dist="508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5E99CAF-C389-4AB8-8A30-D4C281EBC4F7}"/>
              </a:ext>
            </a:extLst>
          </p:cNvPr>
          <p:cNvSpPr/>
          <p:nvPr/>
        </p:nvSpPr>
        <p:spPr>
          <a:xfrm>
            <a:off x="2817583" y="1223691"/>
            <a:ext cx="125202" cy="13710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DB138BCE-A465-8EB9-804E-4EBF67875CF9}"/>
              </a:ext>
            </a:extLst>
          </p:cNvPr>
          <p:cNvSpPr/>
          <p:nvPr/>
        </p:nvSpPr>
        <p:spPr>
          <a:xfrm>
            <a:off x="2982175" y="1223691"/>
            <a:ext cx="125202" cy="137100"/>
          </a:xfrm>
          <a:prstGeom prst="ellipse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F93D6DE-E569-2261-7547-40ADF257AAC0}"/>
              </a:ext>
            </a:extLst>
          </p:cNvPr>
          <p:cNvSpPr/>
          <p:nvPr/>
        </p:nvSpPr>
        <p:spPr>
          <a:xfrm>
            <a:off x="3146767" y="1223691"/>
            <a:ext cx="125202" cy="1371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118788C-AE43-242B-3E50-B94615EE2554}"/>
              </a:ext>
            </a:extLst>
          </p:cNvPr>
          <p:cNvSpPr/>
          <p:nvPr/>
        </p:nvSpPr>
        <p:spPr>
          <a:xfrm>
            <a:off x="2890735" y="1534585"/>
            <a:ext cx="5453886" cy="22377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 = [10, 20, 30, 40]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numbers.append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(50)</a:t>
            </a:r>
          </a:p>
          <a:p>
            <a:r>
              <a:rPr lang="en-US" sz="2000" dirty="0" err="1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numbers.pop</a:t>
            </a:r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(1)</a:t>
            </a:r>
          </a:p>
          <a:p>
            <a:endParaRPr lang="en-US" sz="2000" dirty="0">
              <a:solidFill>
                <a:srgbClr val="E6EDF3"/>
              </a:solidFill>
              <a:latin typeface="Aptos Mono" pitchFamily="34" charset="0"/>
              <a:ea typeface="Aptos Mono" pitchFamily="34" charset="-122"/>
              <a:cs typeface="Aptos Mono" pitchFamily="34" charset="-120"/>
            </a:endParaRPr>
          </a:p>
          <a:p>
            <a:r>
              <a:rPr lang="en-US" sz="2000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print(numbers[2])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F17E89-03EC-DB34-4AB3-F473F6E1FA0A}"/>
              </a:ext>
            </a:extLst>
          </p:cNvPr>
          <p:cNvSpPr txBox="1"/>
          <p:nvPr/>
        </p:nvSpPr>
        <p:spPr>
          <a:xfrm>
            <a:off x="3919016" y="4864869"/>
            <a:ext cx="3200401" cy="40011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40</a:t>
            </a:r>
            <a:endParaRPr lang="en-ES" sz="2000" dirty="0">
              <a:solidFill>
                <a:schemeClr val="bg1"/>
              </a:solidFill>
            </a:endParaRPr>
          </a:p>
        </p:txBody>
      </p:sp>
      <p:sp>
        <p:nvSpPr>
          <p:cNvPr id="15" name="Striped Right Arrow 12">
            <a:extLst>
              <a:ext uri="{FF2B5EF4-FFF2-40B4-BE49-F238E27FC236}">
                <a16:creationId xmlns:a16="http://schemas.microsoft.com/office/drawing/2014/main" id="{C7B0526A-59F9-8342-4EFB-6BBF32FF5BE4}"/>
              </a:ext>
            </a:extLst>
          </p:cNvPr>
          <p:cNvSpPr/>
          <p:nvPr/>
        </p:nvSpPr>
        <p:spPr>
          <a:xfrm rot="5400000">
            <a:off x="5190673" y="4217019"/>
            <a:ext cx="707886" cy="502422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8168B2-4DCE-601A-D356-B69C3A15F868}"/>
              </a:ext>
            </a:extLst>
          </p:cNvPr>
          <p:cNvSpPr txBox="1"/>
          <p:nvPr/>
        </p:nvSpPr>
        <p:spPr>
          <a:xfrm>
            <a:off x="2634702" y="217728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What Will Python Print?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665F4D-8720-1846-4B0C-657154F5A0A9}"/>
              </a:ext>
            </a:extLst>
          </p:cNvPr>
          <p:cNvSpPr txBox="1"/>
          <p:nvPr/>
        </p:nvSpPr>
        <p:spPr>
          <a:xfrm>
            <a:off x="409268" y="5424845"/>
            <a:ext cx="335157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A.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20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B.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30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buNone/>
            </a:pPr>
            <a:r>
              <a:rPr lang="en-US" sz="2000" dirty="0"/>
              <a:t>C. </a:t>
            </a:r>
            <a:r>
              <a:rPr lang="en-US" sz="2000" dirty="0">
                <a:latin typeface="+mn-lt"/>
              </a:rPr>
              <a:t>40</a:t>
            </a:r>
            <a:endParaRPr lang="en-US" sz="2000" dirty="0"/>
          </a:p>
          <a:p>
            <a:pPr>
              <a:buNone/>
            </a:pP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D.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  <a:latin typeface="+mn-lt"/>
              </a:rPr>
              <a:t>50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892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6514</TotalTime>
  <Words>3674</Words>
  <Application>Microsoft Office PowerPoint</Application>
  <PresentationFormat>Widescreen</PresentationFormat>
  <Paragraphs>669</Paragraphs>
  <Slides>73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0" baseType="lpstr">
      <vt:lpstr>Aptos</vt:lpstr>
      <vt:lpstr>Aptos Display</vt:lpstr>
      <vt:lpstr>Aptos Mono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Al-Khwarizmi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Programs and the Programming Environment</dc:title>
  <dc:subject>Computer Programming I — Lecture 1</dc:subject>
  <dc:creator>AKHU</dc:creator>
  <cp:lastModifiedBy>Akhu University</cp:lastModifiedBy>
  <cp:revision>240</cp:revision>
  <dcterms:created xsi:type="dcterms:W3CDTF">2026-09-11T05:59:09Z</dcterms:created>
  <dcterms:modified xsi:type="dcterms:W3CDTF">2026-10-12T05:45:16Z</dcterms:modified>
</cp:coreProperties>
</file>